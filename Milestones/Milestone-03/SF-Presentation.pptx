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7" r:id="rId5"/>
    <p:sldId id="259" r:id="rId6"/>
    <p:sldId id="268" r:id="rId7"/>
    <p:sldId id="269" r:id="rId8"/>
    <p:sldId id="270" r:id="rId9"/>
    <p:sldId id="271" r:id="rId10"/>
    <p:sldId id="272" r:id="rId11"/>
    <p:sldId id="273" r:id="rId12"/>
    <p:sldId id="274" r:id="rId13"/>
    <p:sldId id="275" r:id="rId14"/>
    <p:sldId id="276" r:id="rId15"/>
    <p:sldId id="277" r:id="rId16"/>
    <p:sldId id="278" r:id="rId17"/>
    <p:sldId id="260" r:id="rId18"/>
    <p:sldId id="264" r:id="rId19"/>
    <p:sldId id="266" r:id="rId20"/>
  </p:sldIdLst>
  <p:sldSz cx="18288000" cy="10287000"/>
  <p:notesSz cx="6858000" cy="9144000"/>
  <p:embeddedFontLst>
    <p:embeddedFont>
      <p:font typeface="Jua" panose="020B0604020202020204" charset="-127"/>
      <p:regular r:id="rId21"/>
    </p:embeddedFont>
    <p:embeddedFont>
      <p:font typeface="Cambria" panose="02040503050406030204" pitchFamily="18"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5.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image" Target="../media/image14.png"/><Relationship Id="rId5" Type="http://schemas.openxmlformats.org/officeDocument/2006/relationships/image" Target="../media/image10.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0.png"/><Relationship Id="rId18" Type="http://schemas.openxmlformats.org/officeDocument/2006/relationships/image" Target="../media/image25.svg"/><Relationship Id="rId3" Type="http://schemas.openxmlformats.org/officeDocument/2006/relationships/image" Target="../media/image16.png"/><Relationship Id="rId7" Type="http://schemas.openxmlformats.org/officeDocument/2006/relationships/image" Target="../media/image14.png"/><Relationship Id="rId12" Type="http://schemas.openxmlformats.org/officeDocument/2006/relationships/image" Target="../media/image9.svg"/><Relationship Id="rId17" Type="http://schemas.openxmlformats.org/officeDocument/2006/relationships/image" Target="../media/image24.png"/><Relationship Id="rId2" Type="http://schemas.openxmlformats.org/officeDocument/2006/relationships/image" Target="../media/image1.jpeg"/><Relationship Id="rId16"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19.svg"/><Relationship Id="rId11" Type="http://schemas.openxmlformats.org/officeDocument/2006/relationships/image" Target="../media/image8.png"/><Relationship Id="rId5" Type="http://schemas.openxmlformats.org/officeDocument/2006/relationships/image" Target="../media/image18.png"/><Relationship Id="rId15" Type="http://schemas.openxmlformats.org/officeDocument/2006/relationships/image" Target="../media/image22.png"/><Relationship Id="rId10" Type="http://schemas.openxmlformats.org/officeDocument/2006/relationships/image" Target="../media/image21.svg"/><Relationship Id="rId4" Type="http://schemas.openxmlformats.org/officeDocument/2006/relationships/image" Target="../media/image17.svg"/><Relationship Id="rId9" Type="http://schemas.openxmlformats.org/officeDocument/2006/relationships/image" Target="../media/image20.png"/><Relationship Id="rId14" Type="http://schemas.openxmlformats.org/officeDocument/2006/relationships/image" Target="../media/image11.svg"/></Relationships>
</file>

<file path=ppt/slides/_rels/slide4.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0.png"/><Relationship Id="rId18" Type="http://schemas.openxmlformats.org/officeDocument/2006/relationships/image" Target="../media/image25.svg"/><Relationship Id="rId3" Type="http://schemas.openxmlformats.org/officeDocument/2006/relationships/image" Target="../media/image16.png"/><Relationship Id="rId7" Type="http://schemas.openxmlformats.org/officeDocument/2006/relationships/image" Target="../media/image14.png"/><Relationship Id="rId12" Type="http://schemas.openxmlformats.org/officeDocument/2006/relationships/image" Target="../media/image9.svg"/><Relationship Id="rId17" Type="http://schemas.openxmlformats.org/officeDocument/2006/relationships/image" Target="../media/image24.png"/><Relationship Id="rId2" Type="http://schemas.openxmlformats.org/officeDocument/2006/relationships/image" Target="../media/image1.jpeg"/><Relationship Id="rId16"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19.svg"/><Relationship Id="rId11" Type="http://schemas.openxmlformats.org/officeDocument/2006/relationships/image" Target="../media/image8.png"/><Relationship Id="rId5" Type="http://schemas.openxmlformats.org/officeDocument/2006/relationships/image" Target="../media/image18.png"/><Relationship Id="rId15" Type="http://schemas.openxmlformats.org/officeDocument/2006/relationships/image" Target="../media/image22.png"/><Relationship Id="rId10" Type="http://schemas.openxmlformats.org/officeDocument/2006/relationships/image" Target="../media/image21.svg"/><Relationship Id="rId4" Type="http://schemas.openxmlformats.org/officeDocument/2006/relationships/image" Target="../media/image17.svg"/><Relationship Id="rId9" Type="http://schemas.openxmlformats.org/officeDocument/2006/relationships/image" Target="../media/image20.png"/><Relationship Id="rId14" Type="http://schemas.openxmlformats.org/officeDocument/2006/relationships/image" Target="../media/image11.svg"/></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18.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23.svg"/><Relationship Id="rId4" Type="http://schemas.openxmlformats.org/officeDocument/2006/relationships/image" Target="../media/image19.svg"/><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18.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23.svg"/><Relationship Id="rId4" Type="http://schemas.openxmlformats.org/officeDocument/2006/relationships/image" Target="../media/image19.svg"/><Relationship Id="rId9"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s/_rels/slide17.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10.png"/><Relationship Id="rId18" Type="http://schemas.openxmlformats.org/officeDocument/2006/relationships/image" Target="../media/image25.svg"/><Relationship Id="rId3" Type="http://schemas.openxmlformats.org/officeDocument/2006/relationships/image" Target="../media/image16.png"/><Relationship Id="rId7" Type="http://schemas.openxmlformats.org/officeDocument/2006/relationships/image" Target="../media/image26.png"/><Relationship Id="rId12" Type="http://schemas.openxmlformats.org/officeDocument/2006/relationships/image" Target="../media/image9.svg"/><Relationship Id="rId17" Type="http://schemas.openxmlformats.org/officeDocument/2006/relationships/image" Target="../media/image24.png"/><Relationship Id="rId2" Type="http://schemas.openxmlformats.org/officeDocument/2006/relationships/image" Target="../media/image1.jpeg"/><Relationship Id="rId16" Type="http://schemas.openxmlformats.org/officeDocument/2006/relationships/image" Target="../media/image29.svg"/><Relationship Id="rId1" Type="http://schemas.openxmlformats.org/officeDocument/2006/relationships/slideLayout" Target="../slideLayouts/slideLayout7.xml"/><Relationship Id="rId6" Type="http://schemas.openxmlformats.org/officeDocument/2006/relationships/image" Target="../media/image15.svg"/><Relationship Id="rId11" Type="http://schemas.openxmlformats.org/officeDocument/2006/relationships/image" Target="../media/image8.png"/><Relationship Id="rId5" Type="http://schemas.openxmlformats.org/officeDocument/2006/relationships/image" Target="../media/image14.png"/><Relationship Id="rId15" Type="http://schemas.openxmlformats.org/officeDocument/2006/relationships/image" Target="../media/image28.png"/><Relationship Id="rId10" Type="http://schemas.openxmlformats.org/officeDocument/2006/relationships/image" Target="../media/image21.svg"/><Relationship Id="rId4" Type="http://schemas.openxmlformats.org/officeDocument/2006/relationships/image" Target="../media/image17.svg"/><Relationship Id="rId9" Type="http://schemas.openxmlformats.org/officeDocument/2006/relationships/image" Target="../media/image20.png"/><Relationship Id="rId14" Type="http://schemas.openxmlformats.org/officeDocument/2006/relationships/image" Target="../media/image11.svg"/></Relationships>
</file>

<file path=ppt/slides/_rels/slide18.xml.rels><?xml version="1.0" encoding="UTF-8" standalone="yes"?>
<Relationships xmlns="http://schemas.openxmlformats.org/package/2006/relationships"><Relationship Id="rId8" Type="http://schemas.openxmlformats.org/officeDocument/2006/relationships/image" Target="../media/image31.svg"/><Relationship Id="rId13" Type="http://schemas.openxmlformats.org/officeDocument/2006/relationships/image" Target="../media/image24.png"/><Relationship Id="rId3" Type="http://schemas.openxmlformats.org/officeDocument/2006/relationships/image" Target="../media/image16.png"/><Relationship Id="rId7" Type="http://schemas.openxmlformats.org/officeDocument/2006/relationships/image" Target="../media/image30.png"/><Relationship Id="rId12" Type="http://schemas.openxmlformats.org/officeDocument/2006/relationships/image" Target="../media/image11.svg"/><Relationship Id="rId2" Type="http://schemas.openxmlformats.org/officeDocument/2006/relationships/image" Target="../media/image1.jpeg"/><Relationship Id="rId16" Type="http://schemas.openxmlformats.org/officeDocument/2006/relationships/image" Target="../media/image33.svg"/><Relationship Id="rId1" Type="http://schemas.openxmlformats.org/officeDocument/2006/relationships/slideLayout" Target="../slideLayouts/slideLayout7.xml"/><Relationship Id="rId6" Type="http://schemas.openxmlformats.org/officeDocument/2006/relationships/image" Target="../media/image15.svg"/><Relationship Id="rId11" Type="http://schemas.openxmlformats.org/officeDocument/2006/relationships/image" Target="../media/image10.png"/><Relationship Id="rId5" Type="http://schemas.openxmlformats.org/officeDocument/2006/relationships/image" Target="../media/image14.png"/><Relationship Id="rId15" Type="http://schemas.openxmlformats.org/officeDocument/2006/relationships/image" Target="../media/image32.png"/><Relationship Id="rId10" Type="http://schemas.openxmlformats.org/officeDocument/2006/relationships/image" Target="../media/image9.svg"/><Relationship Id="rId4" Type="http://schemas.openxmlformats.org/officeDocument/2006/relationships/image" Target="../media/image17.svg"/><Relationship Id="rId9" Type="http://schemas.openxmlformats.org/officeDocument/2006/relationships/image" Target="../media/image8.png"/><Relationship Id="rId14" Type="http://schemas.openxmlformats.org/officeDocument/2006/relationships/image" Target="../media/image25.svg"/></Relationships>
</file>

<file path=ppt/slides/_rels/slide19.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10.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7.svg"/><Relationship Id="rId11" Type="http://schemas.openxmlformats.org/officeDocument/2006/relationships/image" Target="../media/image8.png"/><Relationship Id="rId5" Type="http://schemas.openxmlformats.org/officeDocument/2006/relationships/image" Target="../media/image36.png"/><Relationship Id="rId10" Type="http://schemas.openxmlformats.org/officeDocument/2006/relationships/image" Target="../media/image5.svg"/><Relationship Id="rId4" Type="http://schemas.openxmlformats.org/officeDocument/2006/relationships/image" Target="../media/image35.svg"/><Relationship Id="rId9" Type="http://schemas.openxmlformats.org/officeDocument/2006/relationships/image" Target="../media/image4.png"/><Relationship Id="rId1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p:cNvSpPr/>
          <p:nvPr/>
        </p:nvSpPr>
        <p:spPr>
          <a:xfrm>
            <a:off x="2234676" y="1341505"/>
            <a:ext cx="13818648" cy="8341438"/>
          </a:xfrm>
          <a:custGeom>
            <a:avLst/>
            <a:gdLst/>
            <a:ahLst/>
            <a:cxnLst/>
            <a:rect l="l" t="t" r="r" b="b"/>
            <a:pathLst>
              <a:path w="13818648" h="8341438">
                <a:moveTo>
                  <a:pt x="0" y="0"/>
                </a:moveTo>
                <a:lnTo>
                  <a:pt x="13818648" y="0"/>
                </a:lnTo>
                <a:lnTo>
                  <a:pt x="13818648" y="8341438"/>
                </a:lnTo>
                <a:lnTo>
                  <a:pt x="0" y="83414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flipH="1">
            <a:off x="-3055875" y="-349455"/>
            <a:ext cx="7315200" cy="3670900"/>
          </a:xfrm>
          <a:custGeom>
            <a:avLst/>
            <a:gdLst/>
            <a:ahLst/>
            <a:cxnLst/>
            <a:rect l="l" t="t" r="r" b="b"/>
            <a:pathLst>
              <a:path w="7315200" h="3670900">
                <a:moveTo>
                  <a:pt x="7315200" y="0"/>
                </a:moveTo>
                <a:lnTo>
                  <a:pt x="0" y="0"/>
                </a:lnTo>
                <a:lnTo>
                  <a:pt x="0" y="3670900"/>
                </a:lnTo>
                <a:lnTo>
                  <a:pt x="7315200" y="3670900"/>
                </a:lnTo>
                <a:lnTo>
                  <a:pt x="731520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 name="Freeform 5"/>
          <p:cNvSpPr/>
          <p:nvPr/>
        </p:nvSpPr>
        <p:spPr>
          <a:xfrm>
            <a:off x="13394336" y="6616100"/>
            <a:ext cx="7315200" cy="3670900"/>
          </a:xfrm>
          <a:custGeom>
            <a:avLst/>
            <a:gdLst/>
            <a:ahLst/>
            <a:cxnLst/>
            <a:rect l="l" t="t" r="r" b="b"/>
            <a:pathLst>
              <a:path w="7315200" h="3670900">
                <a:moveTo>
                  <a:pt x="0" y="0"/>
                </a:moveTo>
                <a:lnTo>
                  <a:pt x="7315200" y="0"/>
                </a:lnTo>
                <a:lnTo>
                  <a:pt x="7315200" y="3670900"/>
                </a:lnTo>
                <a:lnTo>
                  <a:pt x="0" y="36709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6" name="Freeform 6"/>
          <p:cNvSpPr/>
          <p:nvPr/>
        </p:nvSpPr>
        <p:spPr>
          <a:xfrm>
            <a:off x="1719103" y="7916729"/>
            <a:ext cx="1589809" cy="2057400"/>
          </a:xfrm>
          <a:custGeom>
            <a:avLst/>
            <a:gdLst/>
            <a:ahLst/>
            <a:cxnLst/>
            <a:rect l="l" t="t" r="r" b="b"/>
            <a:pathLst>
              <a:path w="1589809" h="2057400">
                <a:moveTo>
                  <a:pt x="0" y="0"/>
                </a:moveTo>
                <a:lnTo>
                  <a:pt x="1589809" y="0"/>
                </a:lnTo>
                <a:lnTo>
                  <a:pt x="1589809" y="2057400"/>
                </a:lnTo>
                <a:lnTo>
                  <a:pt x="0" y="20574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7" name="Freeform 7"/>
          <p:cNvSpPr/>
          <p:nvPr/>
        </p:nvSpPr>
        <p:spPr>
          <a:xfrm>
            <a:off x="16598096" y="1732506"/>
            <a:ext cx="907682" cy="1588939"/>
          </a:xfrm>
          <a:custGeom>
            <a:avLst/>
            <a:gdLst/>
            <a:ahLst/>
            <a:cxnLst/>
            <a:rect l="l" t="t" r="r" b="b"/>
            <a:pathLst>
              <a:path w="907682" h="1588939">
                <a:moveTo>
                  <a:pt x="0" y="0"/>
                </a:moveTo>
                <a:lnTo>
                  <a:pt x="907681" y="0"/>
                </a:lnTo>
                <a:lnTo>
                  <a:pt x="907681" y="1588939"/>
                </a:lnTo>
                <a:lnTo>
                  <a:pt x="0" y="158893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8" name="Freeform 8"/>
          <p:cNvSpPr/>
          <p:nvPr/>
        </p:nvSpPr>
        <p:spPr>
          <a:xfrm>
            <a:off x="16053324" y="905659"/>
            <a:ext cx="1160673" cy="1160673"/>
          </a:xfrm>
          <a:custGeom>
            <a:avLst/>
            <a:gdLst/>
            <a:ahLst/>
            <a:cxnLst/>
            <a:rect l="l" t="t" r="r" b="b"/>
            <a:pathLst>
              <a:path w="1160673" h="1160673">
                <a:moveTo>
                  <a:pt x="0" y="0"/>
                </a:moveTo>
                <a:lnTo>
                  <a:pt x="1160673" y="0"/>
                </a:lnTo>
                <a:lnTo>
                  <a:pt x="1160673" y="1160673"/>
                </a:lnTo>
                <a:lnTo>
                  <a:pt x="0" y="116067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9" name="Freeform 9"/>
          <p:cNvSpPr/>
          <p:nvPr/>
        </p:nvSpPr>
        <p:spPr>
          <a:xfrm>
            <a:off x="448364" y="6756056"/>
            <a:ext cx="1160673" cy="1160673"/>
          </a:xfrm>
          <a:custGeom>
            <a:avLst/>
            <a:gdLst/>
            <a:ahLst/>
            <a:cxnLst/>
            <a:rect l="l" t="t" r="r" b="b"/>
            <a:pathLst>
              <a:path w="1160673" h="1160673">
                <a:moveTo>
                  <a:pt x="0" y="0"/>
                </a:moveTo>
                <a:lnTo>
                  <a:pt x="1160672" y="0"/>
                </a:lnTo>
                <a:lnTo>
                  <a:pt x="1160672" y="1160673"/>
                </a:lnTo>
                <a:lnTo>
                  <a:pt x="0" y="116067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10" name="TextBox 10"/>
          <p:cNvSpPr txBox="1"/>
          <p:nvPr/>
        </p:nvSpPr>
        <p:spPr>
          <a:xfrm>
            <a:off x="2741205" y="3504521"/>
            <a:ext cx="12464488" cy="3443379"/>
          </a:xfrm>
          <a:prstGeom prst="rect">
            <a:avLst/>
          </a:prstGeom>
        </p:spPr>
        <p:txBody>
          <a:bodyPr wrap="square" lIns="0" tIns="0" rIns="0" bIns="0" rtlCol="0" anchor="t">
            <a:spAutoFit/>
          </a:bodyPr>
          <a:lstStyle/>
          <a:p>
            <a:pPr algn="ctr">
              <a:lnSpc>
                <a:spcPts val="14236"/>
              </a:lnSpc>
              <a:spcBef>
                <a:spcPct val="0"/>
              </a:spcBef>
            </a:pPr>
            <a:r>
              <a:rPr lang="en-GB" sz="8800" dirty="0">
                <a:solidFill>
                  <a:schemeClr val="accent1">
                    <a:lumMod val="75000"/>
                  </a:schemeClr>
                </a:solidFill>
                <a:latin typeface="Cambria" panose="02040503050406030204" pitchFamily="18" charset="0"/>
                <a:ea typeface="Cambria" panose="02040503050406030204" pitchFamily="18" charset="0"/>
              </a:rPr>
              <a:t>Qatar Vehicle Registration System</a:t>
            </a:r>
            <a:endParaRPr lang="en-US" sz="11400" dirty="0">
              <a:solidFill>
                <a:schemeClr val="accent1">
                  <a:lumMod val="75000"/>
                </a:schemeClr>
              </a:solidFill>
              <a:latin typeface="Cambria" panose="02040503050406030204" pitchFamily="18" charset="0"/>
              <a:ea typeface="Cambria" panose="02040503050406030204" pitchFamily="18" charset="0"/>
              <a:cs typeface="Jua"/>
              <a:sym typeface="Jua"/>
            </a:endParaRPr>
          </a:p>
        </p:txBody>
      </p:sp>
      <p:sp>
        <p:nvSpPr>
          <p:cNvPr id="11" name="TextBox 11"/>
          <p:cNvSpPr txBox="1"/>
          <p:nvPr/>
        </p:nvSpPr>
        <p:spPr>
          <a:xfrm>
            <a:off x="5154671" y="7916729"/>
            <a:ext cx="7637557" cy="861774"/>
          </a:xfrm>
          <a:prstGeom prst="rect">
            <a:avLst/>
          </a:prstGeom>
        </p:spPr>
        <p:txBody>
          <a:bodyPr lIns="0" tIns="0" rIns="0" bIns="0" rtlCol="0" anchor="t">
            <a:spAutoFit/>
          </a:bodyPr>
          <a:lstStyle/>
          <a:p>
            <a:pPr marL="0" lvl="0" indent="0" algn="ctr">
              <a:buNone/>
            </a:pPr>
            <a:r>
              <a:rPr lang="pt-BR" sz="2800" b="1" dirty="0">
                <a:solidFill>
                  <a:schemeClr val="accent1">
                    <a:lumMod val="75000"/>
                  </a:schemeClr>
                </a:solidFill>
                <a:latin typeface="Cambria" panose="02040503050406030204" pitchFamily="18" charset="0"/>
                <a:ea typeface="Cambria" panose="02040503050406030204" pitchFamily="18" charset="0"/>
              </a:rPr>
              <a:t>Team Members:</a:t>
            </a:r>
            <a:r>
              <a:rPr lang="pt-BR" sz="2800" dirty="0">
                <a:solidFill>
                  <a:schemeClr val="accent1">
                    <a:lumMod val="75000"/>
                  </a:schemeClr>
                </a:solidFill>
                <a:latin typeface="Cambria" panose="02040503050406030204" pitchFamily="18" charset="0"/>
                <a:ea typeface="Cambria" panose="02040503050406030204" pitchFamily="18" charset="0"/>
              </a:rPr>
              <a:t> </a:t>
            </a:r>
          </a:p>
          <a:p>
            <a:pPr marL="0" lvl="0" indent="0" algn="ctr">
              <a:buNone/>
            </a:pPr>
            <a:r>
              <a:rPr lang="pt-BR" sz="2800" b="1" dirty="0">
                <a:solidFill>
                  <a:schemeClr val="accent1">
                    <a:lumMod val="75000"/>
                  </a:schemeClr>
                </a:solidFill>
                <a:latin typeface="Cambria" panose="02040503050406030204" pitchFamily="18" charset="0"/>
                <a:ea typeface="Cambria" panose="02040503050406030204" pitchFamily="18" charset="0"/>
              </a:rPr>
              <a:t>Alaa Elareer</a:t>
            </a:r>
            <a:r>
              <a:rPr lang="pt-BR" sz="2800" dirty="0">
                <a:solidFill>
                  <a:schemeClr val="accent1">
                    <a:lumMod val="75000"/>
                  </a:schemeClr>
                </a:solidFill>
                <a:latin typeface="Cambria" panose="02040503050406030204" pitchFamily="18" charset="0"/>
                <a:ea typeface="Cambria" panose="02040503050406030204" pitchFamily="18" charset="0"/>
              </a:rPr>
              <a:t>- </a:t>
            </a:r>
            <a:r>
              <a:rPr lang="pt-BR" sz="2800" b="1" dirty="0">
                <a:solidFill>
                  <a:schemeClr val="accent1">
                    <a:lumMod val="75000"/>
                  </a:schemeClr>
                </a:solidFill>
                <a:latin typeface="Cambria" panose="02040503050406030204" pitchFamily="18" charset="0"/>
                <a:ea typeface="Cambria" panose="02040503050406030204" pitchFamily="18" charset="0"/>
              </a:rPr>
              <a:t>Sara Alsada -</a:t>
            </a:r>
            <a:r>
              <a:rPr lang="pt-BR" sz="2800" dirty="0">
                <a:solidFill>
                  <a:schemeClr val="accent1">
                    <a:lumMod val="75000"/>
                  </a:schemeClr>
                </a:solidFill>
                <a:latin typeface="Cambria" panose="02040503050406030204" pitchFamily="18" charset="0"/>
                <a:ea typeface="Cambria" panose="02040503050406030204" pitchFamily="18" charset="0"/>
              </a:rPr>
              <a:t> </a:t>
            </a:r>
            <a:r>
              <a:rPr lang="pt-BR" sz="2800" b="1" dirty="0">
                <a:solidFill>
                  <a:schemeClr val="accent1">
                    <a:lumMod val="75000"/>
                  </a:schemeClr>
                </a:solidFill>
                <a:latin typeface="Cambria" panose="02040503050406030204" pitchFamily="18" charset="0"/>
                <a:ea typeface="Cambria" panose="02040503050406030204" pitchFamily="18" charset="0"/>
              </a:rPr>
              <a:t>Aisha Allenjawi</a:t>
            </a:r>
            <a:endParaRPr lang="pt-BR" sz="2800" dirty="0">
              <a:solidFill>
                <a:schemeClr val="accent1">
                  <a:lumMod val="75000"/>
                </a:schemeClr>
              </a:solidFill>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p:cNvSpPr/>
          <p:nvPr/>
        </p:nvSpPr>
        <p:spPr>
          <a:xfrm>
            <a:off x="16598096" y="1732506"/>
            <a:ext cx="907682" cy="1588939"/>
          </a:xfrm>
          <a:custGeom>
            <a:avLst/>
            <a:gdLst/>
            <a:ahLst/>
            <a:cxnLst/>
            <a:rect l="l" t="t" r="r" b="b"/>
            <a:pathLst>
              <a:path w="907682" h="1588939">
                <a:moveTo>
                  <a:pt x="0" y="0"/>
                </a:moveTo>
                <a:lnTo>
                  <a:pt x="907681" y="0"/>
                </a:lnTo>
                <a:lnTo>
                  <a:pt x="907681" y="1588939"/>
                </a:lnTo>
                <a:lnTo>
                  <a:pt x="0" y="158893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16053324" y="905659"/>
            <a:ext cx="1160673" cy="1160673"/>
          </a:xfrm>
          <a:custGeom>
            <a:avLst/>
            <a:gdLst/>
            <a:ahLst/>
            <a:cxnLst/>
            <a:rect l="l" t="t" r="r" b="b"/>
            <a:pathLst>
              <a:path w="1160673" h="1160673">
                <a:moveTo>
                  <a:pt x="0" y="0"/>
                </a:moveTo>
                <a:lnTo>
                  <a:pt x="1160673" y="0"/>
                </a:lnTo>
                <a:lnTo>
                  <a:pt x="1160673" y="1160673"/>
                </a:lnTo>
                <a:lnTo>
                  <a:pt x="0" y="116067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 name="Freeform 5"/>
          <p:cNvSpPr/>
          <p:nvPr/>
        </p:nvSpPr>
        <p:spPr>
          <a:xfrm>
            <a:off x="14193621" y="7200900"/>
            <a:ext cx="5375629" cy="4114800"/>
          </a:xfrm>
          <a:custGeom>
            <a:avLst/>
            <a:gdLst/>
            <a:ahLst/>
            <a:cxnLst/>
            <a:rect l="l" t="t" r="r" b="b"/>
            <a:pathLst>
              <a:path w="5375629" h="4114800">
                <a:moveTo>
                  <a:pt x="0" y="0"/>
                </a:moveTo>
                <a:lnTo>
                  <a:pt x="5375630" y="0"/>
                </a:lnTo>
                <a:lnTo>
                  <a:pt x="537563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6" name="Freeform 6"/>
          <p:cNvSpPr/>
          <p:nvPr/>
        </p:nvSpPr>
        <p:spPr>
          <a:xfrm>
            <a:off x="-2354402" y="469576"/>
            <a:ext cx="5375629" cy="4114800"/>
          </a:xfrm>
          <a:custGeom>
            <a:avLst/>
            <a:gdLst/>
            <a:ahLst/>
            <a:cxnLst/>
            <a:rect l="l" t="t" r="r" b="b"/>
            <a:pathLst>
              <a:path w="5375629" h="4114800">
                <a:moveTo>
                  <a:pt x="0" y="0"/>
                </a:moveTo>
                <a:lnTo>
                  <a:pt x="5375630" y="0"/>
                </a:lnTo>
                <a:lnTo>
                  <a:pt x="537563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7" name="Freeform 7"/>
          <p:cNvSpPr/>
          <p:nvPr/>
        </p:nvSpPr>
        <p:spPr>
          <a:xfrm>
            <a:off x="1719103" y="7916729"/>
            <a:ext cx="1589809" cy="2057400"/>
          </a:xfrm>
          <a:custGeom>
            <a:avLst/>
            <a:gdLst/>
            <a:ahLst/>
            <a:cxnLst/>
            <a:rect l="l" t="t" r="r" b="b"/>
            <a:pathLst>
              <a:path w="1589809" h="2057400">
                <a:moveTo>
                  <a:pt x="0" y="0"/>
                </a:moveTo>
                <a:lnTo>
                  <a:pt x="1589809" y="0"/>
                </a:lnTo>
                <a:lnTo>
                  <a:pt x="1589809" y="2057400"/>
                </a:lnTo>
                <a:lnTo>
                  <a:pt x="0" y="20574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8" name="Freeform 8"/>
          <p:cNvSpPr/>
          <p:nvPr/>
        </p:nvSpPr>
        <p:spPr>
          <a:xfrm>
            <a:off x="558431" y="8097627"/>
            <a:ext cx="1160673" cy="1160673"/>
          </a:xfrm>
          <a:custGeom>
            <a:avLst/>
            <a:gdLst/>
            <a:ahLst/>
            <a:cxnLst/>
            <a:rect l="l" t="t" r="r" b="b"/>
            <a:pathLst>
              <a:path w="1160673" h="1160673">
                <a:moveTo>
                  <a:pt x="0" y="0"/>
                </a:moveTo>
                <a:lnTo>
                  <a:pt x="1160672" y="0"/>
                </a:lnTo>
                <a:lnTo>
                  <a:pt x="1160672" y="1160673"/>
                </a:lnTo>
                <a:lnTo>
                  <a:pt x="0" y="116067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9" name="Freeform 9"/>
          <p:cNvSpPr/>
          <p:nvPr/>
        </p:nvSpPr>
        <p:spPr>
          <a:xfrm>
            <a:off x="8441820" y="8756129"/>
            <a:ext cx="1085415" cy="621647"/>
          </a:xfrm>
          <a:custGeom>
            <a:avLst/>
            <a:gdLst/>
            <a:ahLst/>
            <a:cxnLst/>
            <a:rect l="l" t="t" r="r" b="b"/>
            <a:pathLst>
              <a:path w="1085415" h="621647">
                <a:moveTo>
                  <a:pt x="0" y="0"/>
                </a:moveTo>
                <a:lnTo>
                  <a:pt x="1085416" y="0"/>
                </a:lnTo>
                <a:lnTo>
                  <a:pt x="1085416" y="621647"/>
                </a:lnTo>
                <a:lnTo>
                  <a:pt x="0" y="62164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10" name="TextBox 10"/>
          <p:cNvSpPr txBox="1"/>
          <p:nvPr/>
        </p:nvSpPr>
        <p:spPr>
          <a:xfrm>
            <a:off x="3106020" y="1258935"/>
            <a:ext cx="13513847" cy="1846659"/>
          </a:xfrm>
          <a:prstGeom prst="rect">
            <a:avLst/>
          </a:prstGeom>
        </p:spPr>
        <p:txBody>
          <a:bodyPr wrap="square" lIns="0" tIns="0" rIns="0" bIns="0" rtlCol="0" anchor="t">
            <a:spAutoFit/>
          </a:bodyPr>
          <a:lstStyle/>
          <a:p>
            <a:pPr marL="0" lvl="0" indent="0" algn="ctr">
              <a:spcBef>
                <a:spcPts val="3000"/>
              </a:spcBef>
              <a:buNone/>
            </a:pPr>
            <a:r>
              <a:rPr lang="en-US" sz="6000" b="1" dirty="0">
                <a:solidFill>
                  <a:schemeClr val="accent1">
                    <a:lumMod val="75000"/>
                  </a:schemeClr>
                </a:solidFill>
                <a:latin typeface="Cambria" panose="02040503050406030204" pitchFamily="18" charset="0"/>
                <a:ea typeface="Cambria" panose="02040503050406030204" pitchFamily="18" charset="0"/>
              </a:rPr>
              <a:t>Qatar Vehicle Registration System: Overview and Progress</a:t>
            </a:r>
          </a:p>
        </p:txBody>
      </p:sp>
      <p:sp>
        <p:nvSpPr>
          <p:cNvPr id="11" name="TextBox 11"/>
          <p:cNvSpPr txBox="1"/>
          <p:nvPr/>
        </p:nvSpPr>
        <p:spPr>
          <a:xfrm>
            <a:off x="2819400" y="3963184"/>
            <a:ext cx="15219778" cy="3077766"/>
          </a:xfrm>
          <a:prstGeom prst="rect">
            <a:avLst/>
          </a:prstGeom>
        </p:spPr>
        <p:txBody>
          <a:bodyPr wrap="square" lIns="0" tIns="0" rIns="0" bIns="0" rtlCol="0" anchor="t">
            <a:spAutoFit/>
          </a:bodyPr>
          <a:lstStyle/>
          <a:p>
            <a:pPr marL="0" lvl="0" indent="0" algn="just">
              <a:buNone/>
            </a:pPr>
            <a:r>
              <a:rPr lang="en-US" sz="4000" dirty="0">
                <a:latin typeface="Cambria" panose="02040503050406030204" pitchFamily="18" charset="0"/>
                <a:ea typeface="Cambria" panose="02040503050406030204" pitchFamily="18" charset="0"/>
              </a:rPr>
              <a:t>The Qatar Vehicle Registration System aims to streamline vehicle-related processes such as registration, accident reporting, ownership transfers, and payment of fines and invoices. This system is designed to benefit both car owners and regulatory authorities, offering an automated, efficient, and secure method to handle all these tasks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p:cNvSpPr/>
          <p:nvPr/>
        </p:nvSpPr>
        <p:spPr>
          <a:xfrm>
            <a:off x="1797236" y="2661208"/>
            <a:ext cx="8245530" cy="6281594"/>
          </a:xfrm>
          <a:custGeom>
            <a:avLst/>
            <a:gdLst/>
            <a:ahLst/>
            <a:cxnLst/>
            <a:rect l="l" t="t" r="r" b="b"/>
            <a:pathLst>
              <a:path w="8245530" h="6281594">
                <a:moveTo>
                  <a:pt x="0" y="0"/>
                </a:moveTo>
                <a:lnTo>
                  <a:pt x="8245530" y="0"/>
                </a:lnTo>
                <a:lnTo>
                  <a:pt x="8245530" y="6281594"/>
                </a:lnTo>
                <a:lnTo>
                  <a:pt x="0" y="62815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10975648" y="3289114"/>
            <a:ext cx="6088503" cy="5025782"/>
          </a:xfrm>
          <a:custGeom>
            <a:avLst/>
            <a:gdLst/>
            <a:ahLst/>
            <a:cxnLst/>
            <a:rect l="l" t="t" r="r" b="b"/>
            <a:pathLst>
              <a:path w="6088503" h="5025782">
                <a:moveTo>
                  <a:pt x="0" y="0"/>
                </a:moveTo>
                <a:lnTo>
                  <a:pt x="6088503" y="0"/>
                </a:lnTo>
                <a:lnTo>
                  <a:pt x="6088503" y="5025782"/>
                </a:lnTo>
                <a:lnTo>
                  <a:pt x="0" y="50257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 name="Freeform 5"/>
          <p:cNvSpPr/>
          <p:nvPr/>
        </p:nvSpPr>
        <p:spPr>
          <a:xfrm>
            <a:off x="16521443" y="8947476"/>
            <a:ext cx="1085415" cy="621647"/>
          </a:xfrm>
          <a:custGeom>
            <a:avLst/>
            <a:gdLst/>
            <a:ahLst/>
            <a:cxnLst/>
            <a:rect l="l" t="t" r="r" b="b"/>
            <a:pathLst>
              <a:path w="1085415" h="621647">
                <a:moveTo>
                  <a:pt x="0" y="0"/>
                </a:moveTo>
                <a:lnTo>
                  <a:pt x="1085416" y="0"/>
                </a:lnTo>
                <a:lnTo>
                  <a:pt x="1085416" y="621648"/>
                </a:lnTo>
                <a:lnTo>
                  <a:pt x="0" y="62164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6" name="Freeform 6"/>
          <p:cNvSpPr/>
          <p:nvPr/>
        </p:nvSpPr>
        <p:spPr>
          <a:xfrm>
            <a:off x="12874598" y="2244092"/>
            <a:ext cx="2290603" cy="3057843"/>
          </a:xfrm>
          <a:custGeom>
            <a:avLst/>
            <a:gdLst/>
            <a:ahLst/>
            <a:cxnLst/>
            <a:rect l="l" t="t" r="r" b="b"/>
            <a:pathLst>
              <a:path w="2290603" h="3057843">
                <a:moveTo>
                  <a:pt x="0" y="0"/>
                </a:moveTo>
                <a:lnTo>
                  <a:pt x="2290603" y="0"/>
                </a:lnTo>
                <a:lnTo>
                  <a:pt x="2290603" y="3057843"/>
                </a:lnTo>
                <a:lnTo>
                  <a:pt x="0" y="30578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7" name="Freeform 7"/>
          <p:cNvSpPr/>
          <p:nvPr/>
        </p:nvSpPr>
        <p:spPr>
          <a:xfrm>
            <a:off x="354968" y="1549588"/>
            <a:ext cx="907682" cy="1588939"/>
          </a:xfrm>
          <a:custGeom>
            <a:avLst/>
            <a:gdLst/>
            <a:ahLst/>
            <a:cxnLst/>
            <a:rect l="l" t="t" r="r" b="b"/>
            <a:pathLst>
              <a:path w="907682" h="1588939">
                <a:moveTo>
                  <a:pt x="0" y="0"/>
                </a:moveTo>
                <a:lnTo>
                  <a:pt x="907682" y="0"/>
                </a:lnTo>
                <a:lnTo>
                  <a:pt x="907682" y="1588939"/>
                </a:lnTo>
                <a:lnTo>
                  <a:pt x="0" y="158893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8" name="Freeform 8"/>
          <p:cNvSpPr/>
          <p:nvPr/>
        </p:nvSpPr>
        <p:spPr>
          <a:xfrm>
            <a:off x="-189804" y="722741"/>
            <a:ext cx="1160673" cy="1160673"/>
          </a:xfrm>
          <a:custGeom>
            <a:avLst/>
            <a:gdLst/>
            <a:ahLst/>
            <a:cxnLst/>
            <a:rect l="l" t="t" r="r" b="b"/>
            <a:pathLst>
              <a:path w="1160673" h="1160673">
                <a:moveTo>
                  <a:pt x="0" y="0"/>
                </a:moveTo>
                <a:lnTo>
                  <a:pt x="1160673" y="0"/>
                </a:lnTo>
                <a:lnTo>
                  <a:pt x="1160673" y="1160672"/>
                </a:lnTo>
                <a:lnTo>
                  <a:pt x="0" y="116067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sp>
        <p:nvSpPr>
          <p:cNvPr id="9" name="Freeform 9"/>
          <p:cNvSpPr/>
          <p:nvPr/>
        </p:nvSpPr>
        <p:spPr>
          <a:xfrm>
            <a:off x="627797" y="7820436"/>
            <a:ext cx="2094881" cy="1298826"/>
          </a:xfrm>
          <a:custGeom>
            <a:avLst/>
            <a:gdLst/>
            <a:ahLst/>
            <a:cxnLst/>
            <a:rect l="l" t="t" r="r" b="b"/>
            <a:pathLst>
              <a:path w="2094881" h="1298826">
                <a:moveTo>
                  <a:pt x="0" y="0"/>
                </a:moveTo>
                <a:lnTo>
                  <a:pt x="2094882" y="0"/>
                </a:lnTo>
                <a:lnTo>
                  <a:pt x="2094882" y="1298827"/>
                </a:lnTo>
                <a:lnTo>
                  <a:pt x="0" y="129882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
        <p:nvSpPr>
          <p:cNvPr id="10" name="Freeform 10"/>
          <p:cNvSpPr/>
          <p:nvPr/>
        </p:nvSpPr>
        <p:spPr>
          <a:xfrm>
            <a:off x="8635968" y="2344058"/>
            <a:ext cx="2094881" cy="1298826"/>
          </a:xfrm>
          <a:custGeom>
            <a:avLst/>
            <a:gdLst/>
            <a:ahLst/>
            <a:cxnLst/>
            <a:rect l="l" t="t" r="r" b="b"/>
            <a:pathLst>
              <a:path w="2094881" h="1298826">
                <a:moveTo>
                  <a:pt x="0" y="0"/>
                </a:moveTo>
                <a:lnTo>
                  <a:pt x="2094881" y="0"/>
                </a:lnTo>
                <a:lnTo>
                  <a:pt x="2094881" y="1298826"/>
                </a:lnTo>
                <a:lnTo>
                  <a:pt x="0" y="1298826"/>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
        <p:nvSpPr>
          <p:cNvPr id="11" name="Freeform 11"/>
          <p:cNvSpPr/>
          <p:nvPr/>
        </p:nvSpPr>
        <p:spPr>
          <a:xfrm>
            <a:off x="-395419" y="6091709"/>
            <a:ext cx="3009144" cy="947228"/>
          </a:xfrm>
          <a:custGeom>
            <a:avLst/>
            <a:gdLst/>
            <a:ahLst/>
            <a:cxnLst/>
            <a:rect l="l" t="t" r="r" b="b"/>
            <a:pathLst>
              <a:path w="3009144" h="1132532">
                <a:moveTo>
                  <a:pt x="0" y="0"/>
                </a:moveTo>
                <a:lnTo>
                  <a:pt x="3009144" y="0"/>
                </a:lnTo>
                <a:lnTo>
                  <a:pt x="3009144" y="1132533"/>
                </a:lnTo>
                <a:lnTo>
                  <a:pt x="0" y="113253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GB"/>
          </a:p>
        </p:txBody>
      </p:sp>
      <p:sp>
        <p:nvSpPr>
          <p:cNvPr id="12" name="TextBox 12"/>
          <p:cNvSpPr txBox="1"/>
          <p:nvPr/>
        </p:nvSpPr>
        <p:spPr>
          <a:xfrm>
            <a:off x="2995902" y="2878032"/>
            <a:ext cx="6687506" cy="737638"/>
          </a:xfrm>
          <a:prstGeom prst="rect">
            <a:avLst/>
          </a:prstGeom>
        </p:spPr>
        <p:txBody>
          <a:bodyPr lIns="0" tIns="0" rIns="0" bIns="0" rtlCol="0" anchor="t">
            <a:spAutoFit/>
          </a:bodyPr>
          <a:lstStyle/>
          <a:p>
            <a:pPr algn="l">
              <a:lnSpc>
                <a:spcPts val="5627"/>
              </a:lnSpc>
              <a:spcBef>
                <a:spcPct val="0"/>
              </a:spcBef>
            </a:pPr>
            <a:r>
              <a:rPr lang="en-GB" sz="5400" b="1" i="0" dirty="0">
                <a:solidFill>
                  <a:schemeClr val="accent1">
                    <a:lumMod val="75000"/>
                  </a:schemeClr>
                </a:solidFill>
                <a:effectLst/>
                <a:latin typeface="Cambria" panose="02040503050406030204" pitchFamily="18" charset="0"/>
                <a:ea typeface="Cambria" panose="02040503050406030204" pitchFamily="18" charset="0"/>
              </a:rPr>
              <a:t>Objective</a:t>
            </a:r>
            <a:endParaRPr lang="en-US" sz="5410" b="1" dirty="0">
              <a:solidFill>
                <a:schemeClr val="accent1">
                  <a:lumMod val="75000"/>
                </a:schemeClr>
              </a:solidFill>
              <a:latin typeface="Cambria" panose="02040503050406030204" pitchFamily="18" charset="0"/>
              <a:ea typeface="Cambria" panose="02040503050406030204" pitchFamily="18" charset="0"/>
              <a:cs typeface="Raleway Bold"/>
              <a:sym typeface="Raleway Bold"/>
            </a:endParaRPr>
          </a:p>
        </p:txBody>
      </p:sp>
      <p:sp>
        <p:nvSpPr>
          <p:cNvPr id="13" name="TextBox 13"/>
          <p:cNvSpPr txBox="1"/>
          <p:nvPr/>
        </p:nvSpPr>
        <p:spPr>
          <a:xfrm>
            <a:off x="2198430" y="4686366"/>
            <a:ext cx="7567851" cy="1433149"/>
          </a:xfrm>
          <a:prstGeom prst="rect">
            <a:avLst/>
          </a:prstGeom>
        </p:spPr>
        <p:txBody>
          <a:bodyPr wrap="square" lIns="0" tIns="0" rIns="0" bIns="0" rtlCol="0" anchor="t">
            <a:spAutoFit/>
          </a:bodyPr>
          <a:lstStyle/>
          <a:p>
            <a:pPr algn="l">
              <a:lnSpc>
                <a:spcPts val="3713"/>
              </a:lnSpc>
              <a:spcBef>
                <a:spcPct val="0"/>
              </a:spcBef>
            </a:pPr>
            <a:r>
              <a:rPr lang="en-GB" sz="4400" b="0" i="0" dirty="0">
                <a:solidFill>
                  <a:srgbClr val="0D0D0D"/>
                </a:solidFill>
                <a:effectLst/>
                <a:latin typeface="Cambria" panose="02040503050406030204" pitchFamily="18" charset="0"/>
                <a:ea typeface="Cambria" panose="02040503050406030204" pitchFamily="18" charset="0"/>
              </a:rPr>
              <a:t>Simplify and digitize vehicle-related services for efficiency and user satisfaction</a:t>
            </a:r>
            <a:endParaRPr lang="en-US" sz="4000" b="1" dirty="0">
              <a:solidFill>
                <a:srgbClr val="000000"/>
              </a:solidFill>
              <a:latin typeface="Cambria" panose="02040503050406030204" pitchFamily="18" charset="0"/>
              <a:ea typeface="Cambria" panose="02040503050406030204" pitchFamily="18" charset="0"/>
              <a:cs typeface="Raleway Bold"/>
              <a:sym typeface="Raleway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FA755-6567-C4AE-52EB-1181F8FD907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BE93EF4-32CB-6708-C111-D0BD6DEF170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a:extLst>
              <a:ext uri="{FF2B5EF4-FFF2-40B4-BE49-F238E27FC236}">
                <a16:creationId xmlns:a16="http://schemas.microsoft.com/office/drawing/2014/main" id="{9EF378D8-F566-3430-D177-A37F21AEF3A7}"/>
              </a:ext>
            </a:extLst>
          </p:cNvPr>
          <p:cNvSpPr/>
          <p:nvPr/>
        </p:nvSpPr>
        <p:spPr>
          <a:xfrm>
            <a:off x="1797236" y="2661208"/>
            <a:ext cx="8245530" cy="6281594"/>
          </a:xfrm>
          <a:custGeom>
            <a:avLst/>
            <a:gdLst/>
            <a:ahLst/>
            <a:cxnLst/>
            <a:rect l="l" t="t" r="r" b="b"/>
            <a:pathLst>
              <a:path w="8245530" h="6281594">
                <a:moveTo>
                  <a:pt x="0" y="0"/>
                </a:moveTo>
                <a:lnTo>
                  <a:pt x="8245530" y="0"/>
                </a:lnTo>
                <a:lnTo>
                  <a:pt x="8245530" y="6281594"/>
                </a:lnTo>
                <a:lnTo>
                  <a:pt x="0" y="62815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a:extLst>
              <a:ext uri="{FF2B5EF4-FFF2-40B4-BE49-F238E27FC236}">
                <a16:creationId xmlns:a16="http://schemas.microsoft.com/office/drawing/2014/main" id="{8B26BDA7-DFD7-7C5E-E82B-4495801100D6}"/>
              </a:ext>
            </a:extLst>
          </p:cNvPr>
          <p:cNvSpPr/>
          <p:nvPr/>
        </p:nvSpPr>
        <p:spPr>
          <a:xfrm>
            <a:off x="10975648" y="3289114"/>
            <a:ext cx="6088503" cy="5025782"/>
          </a:xfrm>
          <a:custGeom>
            <a:avLst/>
            <a:gdLst/>
            <a:ahLst/>
            <a:cxnLst/>
            <a:rect l="l" t="t" r="r" b="b"/>
            <a:pathLst>
              <a:path w="6088503" h="5025782">
                <a:moveTo>
                  <a:pt x="0" y="0"/>
                </a:moveTo>
                <a:lnTo>
                  <a:pt x="6088503" y="0"/>
                </a:lnTo>
                <a:lnTo>
                  <a:pt x="6088503" y="5025782"/>
                </a:lnTo>
                <a:lnTo>
                  <a:pt x="0" y="50257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 name="Freeform 5">
            <a:extLst>
              <a:ext uri="{FF2B5EF4-FFF2-40B4-BE49-F238E27FC236}">
                <a16:creationId xmlns:a16="http://schemas.microsoft.com/office/drawing/2014/main" id="{A75A2A2E-3534-5DB8-1126-E7A12AD54332}"/>
              </a:ext>
            </a:extLst>
          </p:cNvPr>
          <p:cNvSpPr/>
          <p:nvPr/>
        </p:nvSpPr>
        <p:spPr>
          <a:xfrm>
            <a:off x="16521443" y="8947476"/>
            <a:ext cx="1085415" cy="621647"/>
          </a:xfrm>
          <a:custGeom>
            <a:avLst/>
            <a:gdLst/>
            <a:ahLst/>
            <a:cxnLst/>
            <a:rect l="l" t="t" r="r" b="b"/>
            <a:pathLst>
              <a:path w="1085415" h="621647">
                <a:moveTo>
                  <a:pt x="0" y="0"/>
                </a:moveTo>
                <a:lnTo>
                  <a:pt x="1085416" y="0"/>
                </a:lnTo>
                <a:lnTo>
                  <a:pt x="1085416" y="621648"/>
                </a:lnTo>
                <a:lnTo>
                  <a:pt x="0" y="62164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6" name="Freeform 6">
            <a:extLst>
              <a:ext uri="{FF2B5EF4-FFF2-40B4-BE49-F238E27FC236}">
                <a16:creationId xmlns:a16="http://schemas.microsoft.com/office/drawing/2014/main" id="{E84382AC-E363-F651-FCA0-5F342D746C11}"/>
              </a:ext>
            </a:extLst>
          </p:cNvPr>
          <p:cNvSpPr/>
          <p:nvPr/>
        </p:nvSpPr>
        <p:spPr>
          <a:xfrm>
            <a:off x="12874598" y="2244092"/>
            <a:ext cx="2290603" cy="3057843"/>
          </a:xfrm>
          <a:custGeom>
            <a:avLst/>
            <a:gdLst/>
            <a:ahLst/>
            <a:cxnLst/>
            <a:rect l="l" t="t" r="r" b="b"/>
            <a:pathLst>
              <a:path w="2290603" h="3057843">
                <a:moveTo>
                  <a:pt x="0" y="0"/>
                </a:moveTo>
                <a:lnTo>
                  <a:pt x="2290603" y="0"/>
                </a:lnTo>
                <a:lnTo>
                  <a:pt x="2290603" y="3057843"/>
                </a:lnTo>
                <a:lnTo>
                  <a:pt x="0" y="30578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7" name="Freeform 7">
            <a:extLst>
              <a:ext uri="{FF2B5EF4-FFF2-40B4-BE49-F238E27FC236}">
                <a16:creationId xmlns:a16="http://schemas.microsoft.com/office/drawing/2014/main" id="{051262B3-62E4-F0E9-4D9B-F7BC14509E06}"/>
              </a:ext>
            </a:extLst>
          </p:cNvPr>
          <p:cNvSpPr/>
          <p:nvPr/>
        </p:nvSpPr>
        <p:spPr>
          <a:xfrm>
            <a:off x="354968" y="1549588"/>
            <a:ext cx="907682" cy="1588939"/>
          </a:xfrm>
          <a:custGeom>
            <a:avLst/>
            <a:gdLst/>
            <a:ahLst/>
            <a:cxnLst/>
            <a:rect l="l" t="t" r="r" b="b"/>
            <a:pathLst>
              <a:path w="907682" h="1588939">
                <a:moveTo>
                  <a:pt x="0" y="0"/>
                </a:moveTo>
                <a:lnTo>
                  <a:pt x="907682" y="0"/>
                </a:lnTo>
                <a:lnTo>
                  <a:pt x="907682" y="1588939"/>
                </a:lnTo>
                <a:lnTo>
                  <a:pt x="0" y="158893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8" name="Freeform 8">
            <a:extLst>
              <a:ext uri="{FF2B5EF4-FFF2-40B4-BE49-F238E27FC236}">
                <a16:creationId xmlns:a16="http://schemas.microsoft.com/office/drawing/2014/main" id="{BC3139AF-8B57-0933-834C-06923E44A3E6}"/>
              </a:ext>
            </a:extLst>
          </p:cNvPr>
          <p:cNvSpPr/>
          <p:nvPr/>
        </p:nvSpPr>
        <p:spPr>
          <a:xfrm>
            <a:off x="-189804" y="722741"/>
            <a:ext cx="1160673" cy="1160673"/>
          </a:xfrm>
          <a:custGeom>
            <a:avLst/>
            <a:gdLst/>
            <a:ahLst/>
            <a:cxnLst/>
            <a:rect l="l" t="t" r="r" b="b"/>
            <a:pathLst>
              <a:path w="1160673" h="1160673">
                <a:moveTo>
                  <a:pt x="0" y="0"/>
                </a:moveTo>
                <a:lnTo>
                  <a:pt x="1160673" y="0"/>
                </a:lnTo>
                <a:lnTo>
                  <a:pt x="1160673" y="1160672"/>
                </a:lnTo>
                <a:lnTo>
                  <a:pt x="0" y="116067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sp>
        <p:nvSpPr>
          <p:cNvPr id="9" name="Freeform 9">
            <a:extLst>
              <a:ext uri="{FF2B5EF4-FFF2-40B4-BE49-F238E27FC236}">
                <a16:creationId xmlns:a16="http://schemas.microsoft.com/office/drawing/2014/main" id="{DFF2426D-5A24-8D3F-59C1-AEAEF19E189B}"/>
              </a:ext>
            </a:extLst>
          </p:cNvPr>
          <p:cNvSpPr/>
          <p:nvPr/>
        </p:nvSpPr>
        <p:spPr>
          <a:xfrm>
            <a:off x="627797" y="7820436"/>
            <a:ext cx="2094881" cy="1298826"/>
          </a:xfrm>
          <a:custGeom>
            <a:avLst/>
            <a:gdLst/>
            <a:ahLst/>
            <a:cxnLst/>
            <a:rect l="l" t="t" r="r" b="b"/>
            <a:pathLst>
              <a:path w="2094881" h="1298826">
                <a:moveTo>
                  <a:pt x="0" y="0"/>
                </a:moveTo>
                <a:lnTo>
                  <a:pt x="2094882" y="0"/>
                </a:lnTo>
                <a:lnTo>
                  <a:pt x="2094882" y="1298827"/>
                </a:lnTo>
                <a:lnTo>
                  <a:pt x="0" y="129882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
        <p:nvSpPr>
          <p:cNvPr id="10" name="Freeform 10">
            <a:extLst>
              <a:ext uri="{FF2B5EF4-FFF2-40B4-BE49-F238E27FC236}">
                <a16:creationId xmlns:a16="http://schemas.microsoft.com/office/drawing/2014/main" id="{CDA8691F-5D32-81A2-2F65-40F594BE40D6}"/>
              </a:ext>
            </a:extLst>
          </p:cNvPr>
          <p:cNvSpPr/>
          <p:nvPr/>
        </p:nvSpPr>
        <p:spPr>
          <a:xfrm>
            <a:off x="8635968" y="2344058"/>
            <a:ext cx="2094881" cy="1298826"/>
          </a:xfrm>
          <a:custGeom>
            <a:avLst/>
            <a:gdLst/>
            <a:ahLst/>
            <a:cxnLst/>
            <a:rect l="l" t="t" r="r" b="b"/>
            <a:pathLst>
              <a:path w="2094881" h="1298826">
                <a:moveTo>
                  <a:pt x="0" y="0"/>
                </a:moveTo>
                <a:lnTo>
                  <a:pt x="2094881" y="0"/>
                </a:lnTo>
                <a:lnTo>
                  <a:pt x="2094881" y="1298826"/>
                </a:lnTo>
                <a:lnTo>
                  <a:pt x="0" y="1298826"/>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
        <p:nvSpPr>
          <p:cNvPr id="11" name="Freeform 11">
            <a:extLst>
              <a:ext uri="{FF2B5EF4-FFF2-40B4-BE49-F238E27FC236}">
                <a16:creationId xmlns:a16="http://schemas.microsoft.com/office/drawing/2014/main" id="{1C001A56-370D-1FBA-39EA-A1C4AFE8ED67}"/>
              </a:ext>
            </a:extLst>
          </p:cNvPr>
          <p:cNvSpPr/>
          <p:nvPr/>
        </p:nvSpPr>
        <p:spPr>
          <a:xfrm>
            <a:off x="-395419" y="6296257"/>
            <a:ext cx="3009144" cy="1132532"/>
          </a:xfrm>
          <a:custGeom>
            <a:avLst/>
            <a:gdLst/>
            <a:ahLst/>
            <a:cxnLst/>
            <a:rect l="l" t="t" r="r" b="b"/>
            <a:pathLst>
              <a:path w="3009144" h="1132532">
                <a:moveTo>
                  <a:pt x="0" y="0"/>
                </a:moveTo>
                <a:lnTo>
                  <a:pt x="3009144" y="0"/>
                </a:lnTo>
                <a:lnTo>
                  <a:pt x="3009144" y="1132533"/>
                </a:lnTo>
                <a:lnTo>
                  <a:pt x="0" y="113253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GB"/>
          </a:p>
        </p:txBody>
      </p:sp>
      <p:sp>
        <p:nvSpPr>
          <p:cNvPr id="12" name="TextBox 12">
            <a:extLst>
              <a:ext uri="{FF2B5EF4-FFF2-40B4-BE49-F238E27FC236}">
                <a16:creationId xmlns:a16="http://schemas.microsoft.com/office/drawing/2014/main" id="{5A3DC0E2-F2AC-839B-3A1E-AED8753928D5}"/>
              </a:ext>
            </a:extLst>
          </p:cNvPr>
          <p:cNvSpPr txBox="1"/>
          <p:nvPr/>
        </p:nvSpPr>
        <p:spPr>
          <a:xfrm>
            <a:off x="2890140" y="2811601"/>
            <a:ext cx="6059721" cy="741742"/>
          </a:xfrm>
          <a:prstGeom prst="rect">
            <a:avLst/>
          </a:prstGeom>
        </p:spPr>
        <p:txBody>
          <a:bodyPr wrap="square" lIns="0" tIns="0" rIns="0" bIns="0" rtlCol="0" anchor="t">
            <a:spAutoFit/>
          </a:bodyPr>
          <a:lstStyle/>
          <a:p>
            <a:pPr algn="l">
              <a:lnSpc>
                <a:spcPts val="5627"/>
              </a:lnSpc>
              <a:spcBef>
                <a:spcPct val="0"/>
              </a:spcBef>
            </a:pPr>
            <a:r>
              <a:rPr lang="en-GB" sz="4800" b="1" dirty="0">
                <a:solidFill>
                  <a:schemeClr val="accent1">
                    <a:lumMod val="75000"/>
                  </a:schemeClr>
                </a:solidFill>
                <a:latin typeface="Cambria" panose="02040503050406030204" pitchFamily="18" charset="0"/>
                <a:ea typeface="Cambria" panose="02040503050406030204" pitchFamily="18" charset="0"/>
              </a:rPr>
              <a:t>Technology Stack</a:t>
            </a:r>
            <a:endParaRPr lang="en-US" sz="4800" b="1" dirty="0">
              <a:solidFill>
                <a:schemeClr val="accent1">
                  <a:lumMod val="75000"/>
                </a:schemeClr>
              </a:solidFill>
              <a:latin typeface="Cambria" panose="02040503050406030204" pitchFamily="18" charset="0"/>
              <a:ea typeface="Cambria" panose="02040503050406030204" pitchFamily="18" charset="0"/>
              <a:cs typeface="Raleway Bold"/>
              <a:sym typeface="Raleway Bold"/>
            </a:endParaRPr>
          </a:p>
        </p:txBody>
      </p:sp>
      <p:sp>
        <p:nvSpPr>
          <p:cNvPr id="13" name="TextBox 13">
            <a:extLst>
              <a:ext uri="{FF2B5EF4-FFF2-40B4-BE49-F238E27FC236}">
                <a16:creationId xmlns:a16="http://schemas.microsoft.com/office/drawing/2014/main" id="{C9E302CD-FC7C-BDA1-5878-DB31DF665FBE}"/>
              </a:ext>
            </a:extLst>
          </p:cNvPr>
          <p:cNvSpPr txBox="1"/>
          <p:nvPr/>
        </p:nvSpPr>
        <p:spPr>
          <a:xfrm>
            <a:off x="2111054" y="4070828"/>
            <a:ext cx="7792719" cy="1846659"/>
          </a:xfrm>
          <a:prstGeom prst="rect">
            <a:avLst/>
          </a:prstGeom>
        </p:spPr>
        <p:txBody>
          <a:bodyPr wrap="square" lIns="0" tIns="0" rIns="0" bIns="0" rtlCol="0" anchor="t">
            <a:spAutoFit/>
          </a:bodyPr>
          <a:lstStyle/>
          <a:p>
            <a:pPr algn="l">
              <a:spcBef>
                <a:spcPct val="0"/>
              </a:spcBef>
            </a:pPr>
            <a:r>
              <a:rPr lang="en-GB" sz="4000" dirty="0">
                <a:latin typeface="Cambria" panose="02040503050406030204" pitchFamily="18" charset="0"/>
                <a:ea typeface="Cambria" panose="02040503050406030204" pitchFamily="18" charset="0"/>
              </a:rPr>
              <a:t>Java, JavaFX, Scene Builder, Visual Paradigm, IntelliJ IDEA, JUnit, </a:t>
            </a:r>
            <a:r>
              <a:rPr lang="en-GB" sz="4000" dirty="0" err="1">
                <a:latin typeface="Cambria" panose="02040503050406030204" pitchFamily="18" charset="0"/>
                <a:ea typeface="Cambria" panose="02040503050406030204" pitchFamily="18" charset="0"/>
              </a:rPr>
              <a:t>Pandoc</a:t>
            </a:r>
            <a:r>
              <a:rPr lang="en-GB" sz="4000" dirty="0">
                <a:latin typeface="Cambria" panose="02040503050406030204" pitchFamily="18" charset="0"/>
                <a:ea typeface="Cambria" panose="02040503050406030204" pitchFamily="18" charset="0"/>
              </a:rPr>
              <a:t>.</a:t>
            </a:r>
            <a:endParaRPr lang="en-US" sz="3600" b="1" dirty="0">
              <a:solidFill>
                <a:srgbClr val="000000"/>
              </a:solidFill>
              <a:latin typeface="Cambria" panose="02040503050406030204" pitchFamily="18" charset="0"/>
              <a:ea typeface="Cambria" panose="02040503050406030204" pitchFamily="18" charset="0"/>
              <a:cs typeface="Raleway Bold"/>
              <a:sym typeface="Raleway Bold"/>
            </a:endParaRPr>
          </a:p>
        </p:txBody>
      </p:sp>
    </p:spTree>
    <p:extLst>
      <p:ext uri="{BB962C8B-B14F-4D97-AF65-F5344CB8AC3E}">
        <p14:creationId xmlns:p14="http://schemas.microsoft.com/office/powerpoint/2010/main" val="2795585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p:cNvSpPr/>
          <p:nvPr/>
        </p:nvSpPr>
        <p:spPr>
          <a:xfrm>
            <a:off x="550737" y="495300"/>
            <a:ext cx="6220484" cy="5900411"/>
          </a:xfrm>
          <a:custGeom>
            <a:avLst/>
            <a:gdLst/>
            <a:ahLst/>
            <a:cxnLst/>
            <a:rect l="l" t="t" r="r" b="b"/>
            <a:pathLst>
              <a:path w="9525263" h="7862671">
                <a:moveTo>
                  <a:pt x="0" y="0"/>
                </a:moveTo>
                <a:lnTo>
                  <a:pt x="9525262" y="0"/>
                </a:lnTo>
                <a:lnTo>
                  <a:pt x="9525262" y="7862672"/>
                </a:lnTo>
                <a:lnTo>
                  <a:pt x="0" y="786267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8" name="TextBox 8"/>
          <p:cNvSpPr txBox="1"/>
          <p:nvPr/>
        </p:nvSpPr>
        <p:spPr>
          <a:xfrm>
            <a:off x="-319996" y="723900"/>
            <a:ext cx="7961950" cy="3642023"/>
          </a:xfrm>
          <a:prstGeom prst="rect">
            <a:avLst/>
          </a:prstGeom>
        </p:spPr>
        <p:txBody>
          <a:bodyPr wrap="square" lIns="0" tIns="0" rIns="0" bIns="0" rtlCol="0" anchor="t">
            <a:spAutoFit/>
          </a:bodyPr>
          <a:lstStyle/>
          <a:p>
            <a:pPr algn="ctr">
              <a:lnSpc>
                <a:spcPts val="14235"/>
              </a:lnSpc>
              <a:spcBef>
                <a:spcPct val="0"/>
              </a:spcBef>
            </a:pPr>
            <a:r>
              <a:rPr lang="en-GB" sz="4800" b="1" i="0" dirty="0">
                <a:solidFill>
                  <a:schemeClr val="bg1"/>
                </a:solidFill>
                <a:effectLst/>
                <a:latin typeface="Cambria" panose="02040503050406030204" pitchFamily="18" charset="0"/>
                <a:ea typeface="Cambria" panose="02040503050406030204" pitchFamily="18" charset="0"/>
              </a:rPr>
              <a:t>Key</a:t>
            </a:r>
            <a:r>
              <a:rPr lang="en-GB" sz="4800" b="1" i="0" dirty="0">
                <a:solidFill>
                  <a:srgbClr val="0D0D0D"/>
                </a:solidFill>
                <a:effectLst/>
                <a:latin typeface="Cambria" panose="02040503050406030204" pitchFamily="18" charset="0"/>
                <a:ea typeface="Cambria" panose="02040503050406030204" pitchFamily="18" charset="0"/>
              </a:rPr>
              <a:t> </a:t>
            </a:r>
            <a:r>
              <a:rPr lang="en-GB" sz="4800" b="1" i="0" dirty="0">
                <a:solidFill>
                  <a:schemeClr val="bg1"/>
                </a:solidFill>
                <a:effectLst/>
                <a:latin typeface="Cambria" panose="02040503050406030204" pitchFamily="18" charset="0"/>
                <a:ea typeface="Cambria" panose="02040503050406030204" pitchFamily="18" charset="0"/>
              </a:rPr>
              <a:t>Deliverables</a:t>
            </a:r>
          </a:p>
          <a:p>
            <a:pPr algn="ctr">
              <a:lnSpc>
                <a:spcPts val="14235"/>
              </a:lnSpc>
              <a:spcBef>
                <a:spcPct val="0"/>
              </a:spcBef>
            </a:pPr>
            <a:endParaRPr lang="en-US" sz="13688" dirty="0">
              <a:solidFill>
                <a:srgbClr val="224B86"/>
              </a:solidFill>
              <a:latin typeface="Jua"/>
              <a:ea typeface="Jua"/>
              <a:cs typeface="Jua"/>
              <a:sym typeface="Jua"/>
            </a:endParaRPr>
          </a:p>
        </p:txBody>
      </p:sp>
      <p:sp>
        <p:nvSpPr>
          <p:cNvPr id="9" name="Freeform 9"/>
          <p:cNvSpPr/>
          <p:nvPr/>
        </p:nvSpPr>
        <p:spPr>
          <a:xfrm>
            <a:off x="16560493" y="1944383"/>
            <a:ext cx="580336" cy="1015906"/>
          </a:xfrm>
          <a:custGeom>
            <a:avLst/>
            <a:gdLst/>
            <a:ahLst/>
            <a:cxnLst/>
            <a:rect l="l" t="t" r="r" b="b"/>
            <a:pathLst>
              <a:path w="580336" h="1015906">
                <a:moveTo>
                  <a:pt x="0" y="0"/>
                </a:moveTo>
                <a:lnTo>
                  <a:pt x="580336" y="0"/>
                </a:lnTo>
                <a:lnTo>
                  <a:pt x="580336" y="1015906"/>
                </a:lnTo>
                <a:lnTo>
                  <a:pt x="0" y="10159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 name="Freeform 10"/>
          <p:cNvSpPr/>
          <p:nvPr/>
        </p:nvSpPr>
        <p:spPr>
          <a:xfrm>
            <a:off x="15980157" y="1028700"/>
            <a:ext cx="1160673" cy="1160673"/>
          </a:xfrm>
          <a:custGeom>
            <a:avLst/>
            <a:gdLst/>
            <a:ahLst/>
            <a:cxnLst/>
            <a:rect l="l" t="t" r="r" b="b"/>
            <a:pathLst>
              <a:path w="1160673" h="1160673">
                <a:moveTo>
                  <a:pt x="0" y="0"/>
                </a:moveTo>
                <a:lnTo>
                  <a:pt x="1160672" y="0"/>
                </a:lnTo>
                <a:lnTo>
                  <a:pt x="1160672" y="1160673"/>
                </a:lnTo>
                <a:lnTo>
                  <a:pt x="0" y="11606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1" name="Freeform 11"/>
          <p:cNvSpPr/>
          <p:nvPr/>
        </p:nvSpPr>
        <p:spPr>
          <a:xfrm>
            <a:off x="-1286274" y="8369191"/>
            <a:ext cx="4152379" cy="2574475"/>
          </a:xfrm>
          <a:custGeom>
            <a:avLst/>
            <a:gdLst/>
            <a:ahLst/>
            <a:cxnLst/>
            <a:rect l="l" t="t" r="r" b="b"/>
            <a:pathLst>
              <a:path w="4152379" h="2574475">
                <a:moveTo>
                  <a:pt x="0" y="0"/>
                </a:moveTo>
                <a:lnTo>
                  <a:pt x="4152379" y="0"/>
                </a:lnTo>
                <a:lnTo>
                  <a:pt x="4152379" y="2574475"/>
                </a:lnTo>
                <a:lnTo>
                  <a:pt x="0" y="257447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2" name="Freeform 12"/>
          <p:cNvSpPr/>
          <p:nvPr/>
        </p:nvSpPr>
        <p:spPr>
          <a:xfrm>
            <a:off x="15183110" y="7424082"/>
            <a:ext cx="4152379" cy="2574475"/>
          </a:xfrm>
          <a:custGeom>
            <a:avLst/>
            <a:gdLst/>
            <a:ahLst/>
            <a:cxnLst/>
            <a:rect l="l" t="t" r="r" b="b"/>
            <a:pathLst>
              <a:path w="4152379" h="2574475">
                <a:moveTo>
                  <a:pt x="0" y="0"/>
                </a:moveTo>
                <a:lnTo>
                  <a:pt x="4152380" y="0"/>
                </a:lnTo>
                <a:lnTo>
                  <a:pt x="4152380" y="2574475"/>
                </a:lnTo>
                <a:lnTo>
                  <a:pt x="0" y="257447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3" name="TextBox 12">
            <a:extLst>
              <a:ext uri="{FF2B5EF4-FFF2-40B4-BE49-F238E27FC236}">
                <a16:creationId xmlns:a16="http://schemas.microsoft.com/office/drawing/2014/main" id="{E1A6AAB1-9721-65E9-D3E0-16AD4C7B5CB7}"/>
              </a:ext>
            </a:extLst>
          </p:cNvPr>
          <p:cNvSpPr txBox="1"/>
          <p:nvPr/>
        </p:nvSpPr>
        <p:spPr>
          <a:xfrm>
            <a:off x="7113253" y="1221868"/>
            <a:ext cx="11494743" cy="3970318"/>
          </a:xfrm>
          <a:prstGeom prst="rect">
            <a:avLst/>
          </a:prstGeom>
          <a:noFill/>
        </p:spPr>
        <p:txBody>
          <a:bodyPr wrap="square" rtlCol="0">
            <a:spAutoFit/>
          </a:bodyPr>
          <a:lstStyle/>
          <a:p>
            <a:pPr algn="l">
              <a:buFont typeface="+mj-lt"/>
              <a:buAutoNum type="arabicPeriod"/>
            </a:pPr>
            <a:r>
              <a:rPr lang="en-GB" sz="3600" b="1" i="0" dirty="0">
                <a:solidFill>
                  <a:srgbClr val="0D0D0D"/>
                </a:solidFill>
                <a:effectLst/>
                <a:latin typeface="Cambria" panose="02040503050406030204" pitchFamily="18" charset="0"/>
                <a:ea typeface="Cambria" panose="02040503050406030204" pitchFamily="18" charset="0"/>
              </a:rPr>
              <a:t>Requirement Analysis and Design</a:t>
            </a:r>
            <a:r>
              <a:rPr lang="en-GB" sz="3600" b="0" i="0" dirty="0">
                <a:solidFill>
                  <a:srgbClr val="0D0D0D"/>
                </a:solidFill>
                <a:effectLst/>
                <a:latin typeface="Cambria" panose="02040503050406030204" pitchFamily="18" charset="0"/>
                <a:ea typeface="Cambria" panose="02040503050406030204" pitchFamily="18" charset="0"/>
              </a:rPr>
              <a:t>:</a:t>
            </a:r>
          </a:p>
          <a:p>
            <a:pPr marL="742950" lvl="1" indent="-285750" algn="l">
              <a:buFont typeface="+mj-lt"/>
              <a:buAutoNum type="arabicPeriod"/>
            </a:pPr>
            <a:r>
              <a:rPr lang="en-GB" sz="3600" i="0" dirty="0">
                <a:solidFill>
                  <a:srgbClr val="0D0D0D"/>
                </a:solidFill>
                <a:effectLst/>
                <a:latin typeface="Cambria" panose="02040503050406030204" pitchFamily="18" charset="0"/>
                <a:ea typeface="Cambria" panose="02040503050406030204" pitchFamily="18" charset="0"/>
              </a:rPr>
              <a:t>Data Flow Diagrams (DFDs)</a:t>
            </a:r>
            <a:r>
              <a:rPr lang="en-GB" sz="3600" dirty="0">
                <a:solidFill>
                  <a:srgbClr val="0D0D0D"/>
                </a:solidFill>
                <a:latin typeface="Cambria" panose="02040503050406030204" pitchFamily="18" charset="0"/>
                <a:ea typeface="Cambria" panose="02040503050406030204" pitchFamily="18" charset="0"/>
              </a:rPr>
              <a:t>.</a:t>
            </a:r>
            <a:endParaRPr lang="en-GB" sz="3600" i="0" dirty="0">
              <a:solidFill>
                <a:srgbClr val="0D0D0D"/>
              </a:solidFill>
              <a:effectLst/>
              <a:latin typeface="Cambria" panose="02040503050406030204" pitchFamily="18" charset="0"/>
              <a:ea typeface="Cambria" panose="02040503050406030204" pitchFamily="18" charset="0"/>
            </a:endParaRPr>
          </a:p>
          <a:p>
            <a:pPr marL="742950" lvl="1" indent="-285750" algn="l">
              <a:buFont typeface="+mj-lt"/>
              <a:buAutoNum type="arabicPeriod"/>
            </a:pPr>
            <a:r>
              <a:rPr lang="en-GB" sz="3600" i="0" dirty="0">
                <a:solidFill>
                  <a:srgbClr val="0D0D0D"/>
                </a:solidFill>
                <a:effectLst/>
                <a:latin typeface="Cambria" panose="02040503050406030204" pitchFamily="18" charset="0"/>
                <a:ea typeface="Cambria" panose="02040503050406030204" pitchFamily="18" charset="0"/>
              </a:rPr>
              <a:t>Use Case Diagram</a:t>
            </a:r>
            <a:r>
              <a:rPr lang="en-GB" sz="3600" dirty="0">
                <a:solidFill>
                  <a:srgbClr val="0D0D0D"/>
                </a:solidFill>
                <a:latin typeface="Cambria" panose="02040503050406030204" pitchFamily="18" charset="0"/>
                <a:ea typeface="Cambria" panose="02040503050406030204" pitchFamily="18" charset="0"/>
              </a:rPr>
              <a:t>.</a:t>
            </a:r>
            <a:endParaRPr lang="en-GB" sz="3600" i="0" dirty="0">
              <a:solidFill>
                <a:srgbClr val="0D0D0D"/>
              </a:solidFill>
              <a:effectLst/>
              <a:latin typeface="Cambria" panose="02040503050406030204" pitchFamily="18" charset="0"/>
              <a:ea typeface="Cambria" panose="02040503050406030204" pitchFamily="18" charset="0"/>
            </a:endParaRPr>
          </a:p>
          <a:p>
            <a:pPr marL="742950" lvl="1" indent="-285750" algn="l">
              <a:buFont typeface="+mj-lt"/>
              <a:buAutoNum type="arabicPeriod"/>
            </a:pPr>
            <a:r>
              <a:rPr lang="en-GB" sz="3600" i="0" dirty="0">
                <a:solidFill>
                  <a:srgbClr val="0D0D0D"/>
                </a:solidFill>
                <a:effectLst/>
                <a:latin typeface="Cambria" panose="02040503050406030204" pitchFamily="18" charset="0"/>
                <a:ea typeface="Cambria" panose="02040503050406030204" pitchFamily="18" charset="0"/>
              </a:rPr>
              <a:t>Class Diagram</a:t>
            </a:r>
            <a:r>
              <a:rPr lang="en-GB" sz="3600" dirty="0">
                <a:solidFill>
                  <a:srgbClr val="0D0D0D"/>
                </a:solidFill>
                <a:latin typeface="Cambria" panose="02040503050406030204" pitchFamily="18" charset="0"/>
                <a:ea typeface="Cambria" panose="02040503050406030204" pitchFamily="18" charset="0"/>
              </a:rPr>
              <a:t>.</a:t>
            </a:r>
            <a:endParaRPr lang="en-GB" sz="3600" i="0" dirty="0">
              <a:solidFill>
                <a:srgbClr val="0D0D0D"/>
              </a:solidFill>
              <a:effectLst/>
              <a:latin typeface="Cambria" panose="02040503050406030204" pitchFamily="18" charset="0"/>
              <a:ea typeface="Cambria" panose="02040503050406030204" pitchFamily="18" charset="0"/>
            </a:endParaRPr>
          </a:p>
          <a:p>
            <a:pPr algn="l">
              <a:buFont typeface="+mj-lt"/>
              <a:buAutoNum type="arabicPeriod"/>
            </a:pPr>
            <a:r>
              <a:rPr lang="en-GB" sz="3600" b="1" i="0" dirty="0">
                <a:solidFill>
                  <a:srgbClr val="0D0D0D"/>
                </a:solidFill>
                <a:effectLst/>
                <a:latin typeface="Cambria" panose="02040503050406030204" pitchFamily="18" charset="0"/>
                <a:ea typeface="Cambria" panose="02040503050406030204" pitchFamily="18" charset="0"/>
              </a:rPr>
              <a:t>Implementation</a:t>
            </a:r>
            <a:r>
              <a:rPr lang="en-GB" sz="3600" b="0" i="0" dirty="0">
                <a:solidFill>
                  <a:srgbClr val="0D0D0D"/>
                </a:solidFill>
                <a:effectLst/>
                <a:latin typeface="Cambria" panose="02040503050406030204" pitchFamily="18" charset="0"/>
                <a:ea typeface="Cambria" panose="02040503050406030204" pitchFamily="18" charset="0"/>
              </a:rPr>
              <a:t>:</a:t>
            </a:r>
          </a:p>
          <a:p>
            <a:pPr marL="742950" lvl="1" indent="-285750" algn="l">
              <a:buFont typeface="+mj-lt"/>
              <a:buAutoNum type="arabicPeriod"/>
            </a:pPr>
            <a:r>
              <a:rPr lang="en-GB" sz="3600" i="0" dirty="0">
                <a:solidFill>
                  <a:srgbClr val="0D0D0D"/>
                </a:solidFill>
                <a:effectLst/>
                <a:latin typeface="Cambria" panose="02040503050406030204" pitchFamily="18" charset="0"/>
                <a:ea typeface="Cambria" panose="02040503050406030204" pitchFamily="18" charset="0"/>
              </a:rPr>
              <a:t>Transfer Registered Vehicle</a:t>
            </a:r>
            <a:r>
              <a:rPr lang="en-GB" sz="3600" dirty="0">
                <a:solidFill>
                  <a:srgbClr val="0D0D0D"/>
                </a:solidFill>
                <a:latin typeface="Cambria" panose="02040503050406030204" pitchFamily="18" charset="0"/>
                <a:ea typeface="Cambria" panose="02040503050406030204" pitchFamily="18" charset="0"/>
              </a:rPr>
              <a:t>.</a:t>
            </a:r>
          </a:p>
          <a:p>
            <a:pPr marL="742950" lvl="1" indent="-285750" algn="l">
              <a:buFont typeface="+mj-lt"/>
              <a:buAutoNum type="arabicPeriod"/>
            </a:pPr>
            <a:r>
              <a:rPr lang="en-GB" sz="3600" i="0" dirty="0">
                <a:solidFill>
                  <a:srgbClr val="0D0D0D"/>
                </a:solidFill>
                <a:effectLst/>
                <a:latin typeface="Cambria" panose="02040503050406030204" pitchFamily="18" charset="0"/>
                <a:ea typeface="Cambria" panose="02040503050406030204" pitchFamily="18" charset="0"/>
              </a:rPr>
              <a:t>Accident Reporting System</a:t>
            </a:r>
            <a:r>
              <a:rPr lang="en-GB" sz="3600" dirty="0">
                <a:solidFill>
                  <a:srgbClr val="0D0D0D"/>
                </a:solidFill>
                <a:latin typeface="Cambria" panose="02040503050406030204" pitchFamily="18" charset="0"/>
                <a:ea typeface="Cambria" panose="02040503050406030204" pitchFamily="18" charset="0"/>
              </a:rPr>
              <a:t>.</a:t>
            </a:r>
          </a:p>
        </p:txBody>
      </p:sp>
      <p:sp>
        <p:nvSpPr>
          <p:cNvPr id="4" name="TextBox 3">
            <a:extLst>
              <a:ext uri="{FF2B5EF4-FFF2-40B4-BE49-F238E27FC236}">
                <a16:creationId xmlns:a16="http://schemas.microsoft.com/office/drawing/2014/main" id="{A8C84290-A437-7C3D-506F-6FA1D8AE1690}"/>
              </a:ext>
            </a:extLst>
          </p:cNvPr>
          <p:cNvSpPr txBox="1"/>
          <p:nvPr/>
        </p:nvSpPr>
        <p:spPr>
          <a:xfrm>
            <a:off x="5454925" y="5675979"/>
            <a:ext cx="10314878" cy="3416320"/>
          </a:xfrm>
          <a:prstGeom prst="rect">
            <a:avLst/>
          </a:prstGeom>
          <a:noFill/>
        </p:spPr>
        <p:txBody>
          <a:bodyPr wrap="square">
            <a:spAutoFit/>
          </a:bodyPr>
          <a:lstStyle/>
          <a:p>
            <a:pPr lvl="1" algn="l"/>
            <a:endParaRPr lang="en-GB" sz="3600" i="0" dirty="0">
              <a:solidFill>
                <a:srgbClr val="0D0D0D"/>
              </a:solidFill>
              <a:effectLst/>
              <a:latin typeface="Cambria" panose="02040503050406030204" pitchFamily="18" charset="0"/>
              <a:ea typeface="Cambria" panose="02040503050406030204" pitchFamily="18" charset="0"/>
            </a:endParaRPr>
          </a:p>
          <a:p>
            <a:pPr lvl="1"/>
            <a:r>
              <a:rPr lang="en-GB" sz="3600" b="1" i="0" dirty="0">
                <a:solidFill>
                  <a:srgbClr val="0D0D0D"/>
                </a:solidFill>
                <a:effectLst/>
                <a:latin typeface="Cambria" panose="02040503050406030204" pitchFamily="18" charset="0"/>
                <a:ea typeface="Cambria" panose="02040503050406030204" pitchFamily="18" charset="0"/>
              </a:rPr>
              <a:t>3.User Interface Design :</a:t>
            </a:r>
          </a:p>
          <a:p>
            <a:pPr lvl="1" algn="l"/>
            <a:r>
              <a:rPr lang="en-GB" sz="3600" dirty="0">
                <a:solidFill>
                  <a:srgbClr val="0D0D0D"/>
                </a:solidFill>
                <a:latin typeface="Cambria" panose="02040503050406030204" pitchFamily="18" charset="0"/>
                <a:ea typeface="Cambria" panose="02040503050406030204" pitchFamily="18" charset="0"/>
              </a:rPr>
              <a:t>	</a:t>
            </a:r>
            <a:r>
              <a:rPr lang="en-GB" sz="3600" i="0" dirty="0">
                <a:solidFill>
                  <a:srgbClr val="0D0D0D"/>
                </a:solidFill>
                <a:effectLst/>
                <a:latin typeface="Cambria" panose="02040503050406030204" pitchFamily="18" charset="0"/>
                <a:ea typeface="Cambria" panose="02040503050406030204" pitchFamily="18" charset="0"/>
              </a:rPr>
              <a:t> JavaFX-based UI</a:t>
            </a:r>
            <a:r>
              <a:rPr lang="en-GB" sz="3600" b="0" i="0" dirty="0">
                <a:solidFill>
                  <a:srgbClr val="0D0D0D"/>
                </a:solidFill>
                <a:effectLst/>
                <a:latin typeface="Cambria" panose="02040503050406030204" pitchFamily="18" charset="0"/>
                <a:ea typeface="Cambria" panose="02040503050406030204" pitchFamily="18" charset="0"/>
              </a:rPr>
              <a:t>: Designed a responsive, user-friendly interface using JavaFX, integrating real-time form validation to enhance user experience and reduce input errors.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97F58-8335-DC53-D818-0C94E8BB372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1E173B6-82A0-FA62-A08B-2906AC4297E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a:extLst>
              <a:ext uri="{FF2B5EF4-FFF2-40B4-BE49-F238E27FC236}">
                <a16:creationId xmlns:a16="http://schemas.microsoft.com/office/drawing/2014/main" id="{2A6DAD3E-13DC-27FC-5C22-F01C6629734B}"/>
              </a:ext>
            </a:extLst>
          </p:cNvPr>
          <p:cNvSpPr/>
          <p:nvPr/>
        </p:nvSpPr>
        <p:spPr>
          <a:xfrm>
            <a:off x="550737" y="495300"/>
            <a:ext cx="6220484" cy="5900411"/>
          </a:xfrm>
          <a:custGeom>
            <a:avLst/>
            <a:gdLst/>
            <a:ahLst/>
            <a:cxnLst/>
            <a:rect l="l" t="t" r="r" b="b"/>
            <a:pathLst>
              <a:path w="9525263" h="7862671">
                <a:moveTo>
                  <a:pt x="0" y="0"/>
                </a:moveTo>
                <a:lnTo>
                  <a:pt x="9525262" y="0"/>
                </a:lnTo>
                <a:lnTo>
                  <a:pt x="9525262" y="7862672"/>
                </a:lnTo>
                <a:lnTo>
                  <a:pt x="0" y="786267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8" name="TextBox 8">
            <a:extLst>
              <a:ext uri="{FF2B5EF4-FFF2-40B4-BE49-F238E27FC236}">
                <a16:creationId xmlns:a16="http://schemas.microsoft.com/office/drawing/2014/main" id="{07258129-014B-F95D-EF8A-53A4D9EA70FB}"/>
              </a:ext>
            </a:extLst>
          </p:cNvPr>
          <p:cNvSpPr txBox="1"/>
          <p:nvPr/>
        </p:nvSpPr>
        <p:spPr>
          <a:xfrm>
            <a:off x="-277068" y="667550"/>
            <a:ext cx="7961950" cy="3642023"/>
          </a:xfrm>
          <a:prstGeom prst="rect">
            <a:avLst/>
          </a:prstGeom>
        </p:spPr>
        <p:txBody>
          <a:bodyPr wrap="square" lIns="0" tIns="0" rIns="0" bIns="0" rtlCol="0" anchor="t">
            <a:spAutoFit/>
          </a:bodyPr>
          <a:lstStyle/>
          <a:p>
            <a:pPr algn="ctr">
              <a:lnSpc>
                <a:spcPts val="14235"/>
              </a:lnSpc>
              <a:spcBef>
                <a:spcPct val="0"/>
              </a:spcBef>
            </a:pPr>
            <a:r>
              <a:rPr lang="en-GB" sz="4800" b="1" i="0" dirty="0">
                <a:solidFill>
                  <a:schemeClr val="bg1"/>
                </a:solidFill>
                <a:effectLst/>
                <a:latin typeface="Cambria" panose="02040503050406030204" pitchFamily="18" charset="0"/>
                <a:ea typeface="Cambria" panose="02040503050406030204" pitchFamily="18" charset="0"/>
              </a:rPr>
              <a:t>Key</a:t>
            </a:r>
            <a:r>
              <a:rPr lang="en-GB" sz="4800" b="1" i="0" dirty="0">
                <a:solidFill>
                  <a:srgbClr val="0D0D0D"/>
                </a:solidFill>
                <a:effectLst/>
                <a:latin typeface="Cambria" panose="02040503050406030204" pitchFamily="18" charset="0"/>
                <a:ea typeface="Cambria" panose="02040503050406030204" pitchFamily="18" charset="0"/>
              </a:rPr>
              <a:t> </a:t>
            </a:r>
            <a:r>
              <a:rPr lang="en-GB" sz="4800" b="1" i="0" dirty="0">
                <a:solidFill>
                  <a:schemeClr val="bg1"/>
                </a:solidFill>
                <a:effectLst/>
                <a:latin typeface="Cambria" panose="02040503050406030204" pitchFamily="18" charset="0"/>
                <a:ea typeface="Cambria" panose="02040503050406030204" pitchFamily="18" charset="0"/>
              </a:rPr>
              <a:t>Deliverables</a:t>
            </a:r>
          </a:p>
          <a:p>
            <a:pPr algn="ctr">
              <a:lnSpc>
                <a:spcPts val="14235"/>
              </a:lnSpc>
              <a:spcBef>
                <a:spcPct val="0"/>
              </a:spcBef>
            </a:pPr>
            <a:endParaRPr lang="en-US" sz="13688" dirty="0">
              <a:solidFill>
                <a:srgbClr val="224B86"/>
              </a:solidFill>
              <a:latin typeface="Cambria" panose="02040503050406030204" pitchFamily="18" charset="0"/>
              <a:ea typeface="Cambria" panose="02040503050406030204" pitchFamily="18" charset="0"/>
              <a:cs typeface="Jua"/>
              <a:sym typeface="Jua"/>
            </a:endParaRPr>
          </a:p>
        </p:txBody>
      </p:sp>
      <p:sp>
        <p:nvSpPr>
          <p:cNvPr id="9" name="Freeform 9">
            <a:extLst>
              <a:ext uri="{FF2B5EF4-FFF2-40B4-BE49-F238E27FC236}">
                <a16:creationId xmlns:a16="http://schemas.microsoft.com/office/drawing/2014/main" id="{982FCF7D-7CA8-A809-5AE1-9490867D10A8}"/>
              </a:ext>
            </a:extLst>
          </p:cNvPr>
          <p:cNvSpPr/>
          <p:nvPr/>
        </p:nvSpPr>
        <p:spPr>
          <a:xfrm>
            <a:off x="16560493" y="1944383"/>
            <a:ext cx="580336" cy="1015906"/>
          </a:xfrm>
          <a:custGeom>
            <a:avLst/>
            <a:gdLst/>
            <a:ahLst/>
            <a:cxnLst/>
            <a:rect l="l" t="t" r="r" b="b"/>
            <a:pathLst>
              <a:path w="580336" h="1015906">
                <a:moveTo>
                  <a:pt x="0" y="0"/>
                </a:moveTo>
                <a:lnTo>
                  <a:pt x="580336" y="0"/>
                </a:lnTo>
                <a:lnTo>
                  <a:pt x="580336" y="1015906"/>
                </a:lnTo>
                <a:lnTo>
                  <a:pt x="0" y="10159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 name="Freeform 10">
            <a:extLst>
              <a:ext uri="{FF2B5EF4-FFF2-40B4-BE49-F238E27FC236}">
                <a16:creationId xmlns:a16="http://schemas.microsoft.com/office/drawing/2014/main" id="{549E0B0F-A3F6-2E62-B6C2-BD11A7640F3F}"/>
              </a:ext>
            </a:extLst>
          </p:cNvPr>
          <p:cNvSpPr/>
          <p:nvPr/>
        </p:nvSpPr>
        <p:spPr>
          <a:xfrm>
            <a:off x="15980157" y="1028700"/>
            <a:ext cx="1160673" cy="1160673"/>
          </a:xfrm>
          <a:custGeom>
            <a:avLst/>
            <a:gdLst/>
            <a:ahLst/>
            <a:cxnLst/>
            <a:rect l="l" t="t" r="r" b="b"/>
            <a:pathLst>
              <a:path w="1160673" h="1160673">
                <a:moveTo>
                  <a:pt x="0" y="0"/>
                </a:moveTo>
                <a:lnTo>
                  <a:pt x="1160672" y="0"/>
                </a:lnTo>
                <a:lnTo>
                  <a:pt x="1160672" y="1160673"/>
                </a:lnTo>
                <a:lnTo>
                  <a:pt x="0" y="11606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1" name="Freeform 11">
            <a:extLst>
              <a:ext uri="{FF2B5EF4-FFF2-40B4-BE49-F238E27FC236}">
                <a16:creationId xmlns:a16="http://schemas.microsoft.com/office/drawing/2014/main" id="{A723F9E8-7336-6317-628A-F7D4CD255AC2}"/>
              </a:ext>
            </a:extLst>
          </p:cNvPr>
          <p:cNvSpPr/>
          <p:nvPr/>
        </p:nvSpPr>
        <p:spPr>
          <a:xfrm>
            <a:off x="-1286274" y="8369191"/>
            <a:ext cx="4152379" cy="2574475"/>
          </a:xfrm>
          <a:custGeom>
            <a:avLst/>
            <a:gdLst/>
            <a:ahLst/>
            <a:cxnLst/>
            <a:rect l="l" t="t" r="r" b="b"/>
            <a:pathLst>
              <a:path w="4152379" h="2574475">
                <a:moveTo>
                  <a:pt x="0" y="0"/>
                </a:moveTo>
                <a:lnTo>
                  <a:pt x="4152379" y="0"/>
                </a:lnTo>
                <a:lnTo>
                  <a:pt x="4152379" y="2574475"/>
                </a:lnTo>
                <a:lnTo>
                  <a:pt x="0" y="257447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2" name="Freeform 12">
            <a:extLst>
              <a:ext uri="{FF2B5EF4-FFF2-40B4-BE49-F238E27FC236}">
                <a16:creationId xmlns:a16="http://schemas.microsoft.com/office/drawing/2014/main" id="{2E208325-FEBF-CC3A-2FC5-C8E4562C6044}"/>
              </a:ext>
            </a:extLst>
          </p:cNvPr>
          <p:cNvSpPr/>
          <p:nvPr/>
        </p:nvSpPr>
        <p:spPr>
          <a:xfrm>
            <a:off x="15183110" y="7424082"/>
            <a:ext cx="4152379" cy="2574475"/>
          </a:xfrm>
          <a:custGeom>
            <a:avLst/>
            <a:gdLst/>
            <a:ahLst/>
            <a:cxnLst/>
            <a:rect l="l" t="t" r="r" b="b"/>
            <a:pathLst>
              <a:path w="4152379" h="2574475">
                <a:moveTo>
                  <a:pt x="0" y="0"/>
                </a:moveTo>
                <a:lnTo>
                  <a:pt x="4152380" y="0"/>
                </a:lnTo>
                <a:lnTo>
                  <a:pt x="4152380" y="2574475"/>
                </a:lnTo>
                <a:lnTo>
                  <a:pt x="0" y="257447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3" name="TextBox 12">
            <a:extLst>
              <a:ext uri="{FF2B5EF4-FFF2-40B4-BE49-F238E27FC236}">
                <a16:creationId xmlns:a16="http://schemas.microsoft.com/office/drawing/2014/main" id="{AEE5AA84-FCE9-B230-76C6-D87AC9DB0F47}"/>
              </a:ext>
            </a:extLst>
          </p:cNvPr>
          <p:cNvSpPr txBox="1"/>
          <p:nvPr/>
        </p:nvSpPr>
        <p:spPr>
          <a:xfrm>
            <a:off x="6705907" y="2329982"/>
            <a:ext cx="11669179" cy="4524315"/>
          </a:xfrm>
          <a:prstGeom prst="rect">
            <a:avLst/>
          </a:prstGeom>
          <a:noFill/>
        </p:spPr>
        <p:txBody>
          <a:bodyPr wrap="square" rtlCol="0">
            <a:spAutoFit/>
          </a:bodyPr>
          <a:lstStyle/>
          <a:p>
            <a:pPr algn="l"/>
            <a:r>
              <a:rPr lang="en-GB" sz="3600" b="1" i="0" dirty="0">
                <a:solidFill>
                  <a:srgbClr val="0D0D0D"/>
                </a:solidFill>
                <a:effectLst/>
                <a:latin typeface="Cambria" panose="02040503050406030204" pitchFamily="18" charset="0"/>
                <a:ea typeface="Cambria" panose="02040503050406030204" pitchFamily="18" charset="0"/>
              </a:rPr>
              <a:t>3. Testing and Quality Assurance</a:t>
            </a:r>
            <a:r>
              <a:rPr lang="en-GB" sz="3600" b="0" i="0" dirty="0">
                <a:solidFill>
                  <a:srgbClr val="0D0D0D"/>
                </a:solidFill>
                <a:effectLst/>
                <a:latin typeface="Cambria" panose="02040503050406030204" pitchFamily="18" charset="0"/>
                <a:ea typeface="Cambria" panose="02040503050406030204" pitchFamily="18" charset="0"/>
              </a:rPr>
              <a:t>:</a:t>
            </a:r>
          </a:p>
          <a:p>
            <a:pPr marL="742950" lvl="1" indent="-285750" algn="l">
              <a:buFont typeface="+mj-lt"/>
              <a:buAutoNum type="arabicPeriod"/>
            </a:pPr>
            <a:r>
              <a:rPr lang="en-GB" sz="3600" b="1" i="0" dirty="0">
                <a:solidFill>
                  <a:srgbClr val="0D0D0D"/>
                </a:solidFill>
                <a:effectLst/>
                <a:latin typeface="Cambria" panose="02040503050406030204" pitchFamily="18" charset="0"/>
                <a:ea typeface="Cambria" panose="02040503050406030204" pitchFamily="18" charset="0"/>
              </a:rPr>
              <a:t> Functional Testing</a:t>
            </a:r>
            <a:r>
              <a:rPr lang="en-GB" sz="3600" b="0" i="0" dirty="0">
                <a:solidFill>
                  <a:srgbClr val="0D0D0D"/>
                </a:solidFill>
                <a:effectLst/>
                <a:latin typeface="Cambria" panose="02040503050406030204" pitchFamily="18" charset="0"/>
                <a:ea typeface="Cambria" panose="02040503050406030204" pitchFamily="18" charset="0"/>
              </a:rPr>
              <a:t>: </a:t>
            </a:r>
          </a:p>
          <a:p>
            <a:pPr lvl="1" algn="l"/>
            <a:r>
              <a:rPr lang="en-GB" sz="3600" b="0" i="0" dirty="0">
                <a:solidFill>
                  <a:srgbClr val="0D0D0D"/>
                </a:solidFill>
                <a:effectLst/>
                <a:latin typeface="Cambria" panose="02040503050406030204" pitchFamily="18" charset="0"/>
                <a:ea typeface="Cambria" panose="02040503050406030204" pitchFamily="18" charset="0"/>
              </a:rPr>
              <a:t>Conducted thorough testing to ensure the core system features work as expected across various scenarios, including normal and alternative flows.</a:t>
            </a:r>
          </a:p>
          <a:p>
            <a:pPr lvl="1" algn="l"/>
            <a:r>
              <a:rPr lang="en-GB" sz="3600" b="1" i="0" dirty="0">
                <a:solidFill>
                  <a:srgbClr val="0D0D0D"/>
                </a:solidFill>
                <a:effectLst/>
                <a:latin typeface="Cambria" panose="02040503050406030204" pitchFamily="18" charset="0"/>
                <a:ea typeface="Cambria" panose="02040503050406030204" pitchFamily="18" charset="0"/>
              </a:rPr>
              <a:t>2. Non-Functional Testing</a:t>
            </a:r>
            <a:r>
              <a:rPr lang="en-GB" sz="3600" b="0" i="0" dirty="0">
                <a:solidFill>
                  <a:srgbClr val="0D0D0D"/>
                </a:solidFill>
                <a:effectLst/>
                <a:latin typeface="Cambria" panose="02040503050406030204" pitchFamily="18" charset="0"/>
                <a:ea typeface="Cambria" panose="02040503050406030204" pitchFamily="18" charset="0"/>
              </a:rPr>
              <a:t>: Performed tests to evaluate system performance, scalability, and security, ensuring the system meets non-functional requirements.</a:t>
            </a:r>
          </a:p>
        </p:txBody>
      </p:sp>
    </p:spTree>
    <p:extLst>
      <p:ext uri="{BB962C8B-B14F-4D97-AF65-F5344CB8AC3E}">
        <p14:creationId xmlns:p14="http://schemas.microsoft.com/office/powerpoint/2010/main" val="3724125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3DBF4-88DE-4C1F-E1C8-3E8E8000A23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C679072-37E1-140C-66E2-1E358610AE2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a:extLst>
              <a:ext uri="{FF2B5EF4-FFF2-40B4-BE49-F238E27FC236}">
                <a16:creationId xmlns:a16="http://schemas.microsoft.com/office/drawing/2014/main" id="{27E380E5-A940-6F11-0453-D803BB097A34}"/>
              </a:ext>
            </a:extLst>
          </p:cNvPr>
          <p:cNvSpPr/>
          <p:nvPr/>
        </p:nvSpPr>
        <p:spPr>
          <a:xfrm>
            <a:off x="448364" y="419100"/>
            <a:ext cx="15604960" cy="9263843"/>
          </a:xfrm>
          <a:custGeom>
            <a:avLst/>
            <a:gdLst/>
            <a:ahLst/>
            <a:cxnLst/>
            <a:rect l="l" t="t" r="r" b="b"/>
            <a:pathLst>
              <a:path w="13818648" h="8341438">
                <a:moveTo>
                  <a:pt x="0" y="0"/>
                </a:moveTo>
                <a:lnTo>
                  <a:pt x="13818648" y="0"/>
                </a:lnTo>
                <a:lnTo>
                  <a:pt x="13818648" y="8341438"/>
                </a:lnTo>
                <a:lnTo>
                  <a:pt x="0" y="83414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Freeform 5">
            <a:extLst>
              <a:ext uri="{FF2B5EF4-FFF2-40B4-BE49-F238E27FC236}">
                <a16:creationId xmlns:a16="http://schemas.microsoft.com/office/drawing/2014/main" id="{DA2A9C9F-6B07-9356-1206-1AFDD8F55691}"/>
              </a:ext>
            </a:extLst>
          </p:cNvPr>
          <p:cNvSpPr/>
          <p:nvPr/>
        </p:nvSpPr>
        <p:spPr>
          <a:xfrm>
            <a:off x="13394336" y="6616100"/>
            <a:ext cx="7315200" cy="3670900"/>
          </a:xfrm>
          <a:custGeom>
            <a:avLst/>
            <a:gdLst/>
            <a:ahLst/>
            <a:cxnLst/>
            <a:rect l="l" t="t" r="r" b="b"/>
            <a:pathLst>
              <a:path w="7315200" h="3670900">
                <a:moveTo>
                  <a:pt x="0" y="0"/>
                </a:moveTo>
                <a:lnTo>
                  <a:pt x="7315200" y="0"/>
                </a:lnTo>
                <a:lnTo>
                  <a:pt x="7315200" y="3670900"/>
                </a:lnTo>
                <a:lnTo>
                  <a:pt x="0" y="36709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7" name="Freeform 7">
            <a:extLst>
              <a:ext uri="{FF2B5EF4-FFF2-40B4-BE49-F238E27FC236}">
                <a16:creationId xmlns:a16="http://schemas.microsoft.com/office/drawing/2014/main" id="{D5704BDD-4177-E716-04A6-DF8AD97D358B}"/>
              </a:ext>
            </a:extLst>
          </p:cNvPr>
          <p:cNvSpPr/>
          <p:nvPr/>
        </p:nvSpPr>
        <p:spPr>
          <a:xfrm>
            <a:off x="16598096" y="1732506"/>
            <a:ext cx="907682" cy="1588939"/>
          </a:xfrm>
          <a:custGeom>
            <a:avLst/>
            <a:gdLst/>
            <a:ahLst/>
            <a:cxnLst/>
            <a:rect l="l" t="t" r="r" b="b"/>
            <a:pathLst>
              <a:path w="907682" h="1588939">
                <a:moveTo>
                  <a:pt x="0" y="0"/>
                </a:moveTo>
                <a:lnTo>
                  <a:pt x="907681" y="0"/>
                </a:lnTo>
                <a:lnTo>
                  <a:pt x="907681" y="1588939"/>
                </a:lnTo>
                <a:lnTo>
                  <a:pt x="0" y="158893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 name="Freeform 8">
            <a:extLst>
              <a:ext uri="{FF2B5EF4-FFF2-40B4-BE49-F238E27FC236}">
                <a16:creationId xmlns:a16="http://schemas.microsoft.com/office/drawing/2014/main" id="{7C44D976-015D-DED2-D6BF-5C7084CFF65B}"/>
              </a:ext>
            </a:extLst>
          </p:cNvPr>
          <p:cNvSpPr/>
          <p:nvPr/>
        </p:nvSpPr>
        <p:spPr>
          <a:xfrm>
            <a:off x="16053324" y="905659"/>
            <a:ext cx="1160673" cy="1160673"/>
          </a:xfrm>
          <a:custGeom>
            <a:avLst/>
            <a:gdLst/>
            <a:ahLst/>
            <a:cxnLst/>
            <a:rect l="l" t="t" r="r" b="b"/>
            <a:pathLst>
              <a:path w="1160673" h="1160673">
                <a:moveTo>
                  <a:pt x="0" y="0"/>
                </a:moveTo>
                <a:lnTo>
                  <a:pt x="1160673" y="0"/>
                </a:lnTo>
                <a:lnTo>
                  <a:pt x="1160673" y="1160673"/>
                </a:lnTo>
                <a:lnTo>
                  <a:pt x="0" y="116067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0" name="TextBox 10">
            <a:extLst>
              <a:ext uri="{FF2B5EF4-FFF2-40B4-BE49-F238E27FC236}">
                <a16:creationId xmlns:a16="http://schemas.microsoft.com/office/drawing/2014/main" id="{4021E750-F142-13EC-8171-DFF6095DB35E}"/>
              </a:ext>
            </a:extLst>
          </p:cNvPr>
          <p:cNvSpPr txBox="1"/>
          <p:nvPr/>
        </p:nvSpPr>
        <p:spPr>
          <a:xfrm>
            <a:off x="782222" y="836872"/>
            <a:ext cx="13769796" cy="6786473"/>
          </a:xfrm>
          <a:prstGeom prst="rect">
            <a:avLst/>
          </a:prstGeom>
        </p:spPr>
        <p:txBody>
          <a:bodyPr wrap="square" lIns="0" tIns="0" rIns="0" bIns="0" rtlCol="0" anchor="t">
            <a:spAutoFit/>
          </a:bodyPr>
          <a:lstStyle/>
          <a:p>
            <a:pPr marL="0" lvl="0" indent="0">
              <a:spcBef>
                <a:spcPts val="3000"/>
              </a:spcBef>
              <a:buNone/>
            </a:pPr>
            <a:r>
              <a:rPr lang="en-US" sz="3200" b="1" dirty="0">
                <a:solidFill>
                  <a:schemeClr val="accent1">
                    <a:lumMod val="50000"/>
                  </a:schemeClr>
                </a:solidFill>
                <a:latin typeface="Cambria" panose="02040503050406030204" pitchFamily="18" charset="0"/>
                <a:ea typeface="Cambria" panose="02040503050406030204" pitchFamily="18" charset="0"/>
              </a:rPr>
              <a:t>              </a:t>
            </a:r>
            <a:r>
              <a:rPr lang="en-US" sz="3600" b="1" dirty="0">
                <a:solidFill>
                  <a:schemeClr val="accent1">
                    <a:lumMod val="50000"/>
                  </a:schemeClr>
                </a:solidFill>
                <a:latin typeface="Cambria" panose="02040503050406030204" pitchFamily="18" charset="0"/>
                <a:ea typeface="Cambria" panose="02040503050406030204" pitchFamily="18" charset="0"/>
              </a:rPr>
              <a:t>Milestone 1 - Software Requirements Analysis</a:t>
            </a:r>
          </a:p>
          <a:p>
            <a:pPr marL="0" lvl="0" indent="0">
              <a:spcBef>
                <a:spcPts val="3000"/>
              </a:spcBef>
              <a:buNone/>
            </a:pPr>
            <a:endParaRPr lang="en-US" sz="2800" b="1" dirty="0">
              <a:latin typeface="Cambria" panose="02040503050406030204" pitchFamily="18" charset="0"/>
              <a:ea typeface="Cambria" panose="02040503050406030204" pitchFamily="18" charset="0"/>
            </a:endParaRPr>
          </a:p>
          <a:p>
            <a:endParaRPr lang="en-US" sz="2800" dirty="0">
              <a:latin typeface="Cambria" panose="02040503050406030204" pitchFamily="18" charset="0"/>
              <a:ea typeface="Cambria" panose="02040503050406030204" pitchFamily="18" charset="0"/>
            </a:endParaRPr>
          </a:p>
          <a:p>
            <a:r>
              <a:rPr lang="en-US" sz="3600" dirty="0">
                <a:latin typeface="Cambria" panose="02040503050406030204" pitchFamily="18" charset="0"/>
                <a:ea typeface="Cambria" panose="02040503050406030204" pitchFamily="18" charset="0"/>
              </a:rPr>
              <a:t>In Milestone 1, the system’s requirements were analyzed and defined through key diagrams and use case specifications:</a:t>
            </a:r>
          </a:p>
          <a:p>
            <a:pPr>
              <a:buFont typeface="Arial" panose="020B0604020202020204" pitchFamily="34" charset="0"/>
              <a:buChar char="•"/>
            </a:pPr>
            <a:r>
              <a:rPr lang="en-US" sz="3600" b="1" dirty="0">
                <a:latin typeface="Cambria" panose="02040503050406030204" pitchFamily="18" charset="0"/>
                <a:ea typeface="Cambria" panose="02040503050406030204" pitchFamily="18" charset="0"/>
              </a:rPr>
              <a:t>Data Flow Diagrams (DFD)</a:t>
            </a:r>
            <a:r>
              <a:rPr lang="en-US" sz="3600" dirty="0">
                <a:latin typeface="Cambria" panose="02040503050406030204" pitchFamily="18" charset="0"/>
                <a:ea typeface="Cambria" panose="02040503050406030204" pitchFamily="18" charset="0"/>
              </a:rPr>
              <a:t>: Level 0 and Level 1 depict the flow of data between processes, external entities, and data stores within the system.</a:t>
            </a:r>
          </a:p>
          <a:p>
            <a:pPr>
              <a:buFont typeface="Arial" panose="020B0604020202020204" pitchFamily="34" charset="0"/>
              <a:buChar char="•"/>
            </a:pPr>
            <a:endParaRPr lang="en-US" sz="36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sz="3600" b="1" dirty="0">
                <a:latin typeface="Cambria" panose="02040503050406030204" pitchFamily="18" charset="0"/>
                <a:ea typeface="Cambria" panose="02040503050406030204" pitchFamily="18" charset="0"/>
              </a:rPr>
              <a:t>Use Case Diagram</a:t>
            </a:r>
            <a:r>
              <a:rPr lang="en-US" sz="3600" dirty="0">
                <a:latin typeface="Cambria" panose="02040503050406030204" pitchFamily="18" charset="0"/>
                <a:ea typeface="Cambria" panose="02040503050406030204" pitchFamily="18" charset="0"/>
              </a:rPr>
              <a:t>: Highlights core functionalities like Renew Registration, Register Vehicle, Ownership Transfer, and Pay Fines, showcasing user interactions and defining the system's scope.</a:t>
            </a:r>
          </a:p>
        </p:txBody>
      </p:sp>
    </p:spTree>
    <p:extLst>
      <p:ext uri="{BB962C8B-B14F-4D97-AF65-F5344CB8AC3E}">
        <p14:creationId xmlns:p14="http://schemas.microsoft.com/office/powerpoint/2010/main" val="3780399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FFE57-77E4-D164-AE16-84BEBD0A5FE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D99584F-6B92-66DB-87F1-A2517533D4D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a:extLst>
              <a:ext uri="{FF2B5EF4-FFF2-40B4-BE49-F238E27FC236}">
                <a16:creationId xmlns:a16="http://schemas.microsoft.com/office/drawing/2014/main" id="{686F7791-58BE-274E-14FE-D79E0A5B44F4}"/>
              </a:ext>
            </a:extLst>
          </p:cNvPr>
          <p:cNvSpPr/>
          <p:nvPr/>
        </p:nvSpPr>
        <p:spPr>
          <a:xfrm>
            <a:off x="448364" y="419100"/>
            <a:ext cx="15604960" cy="9263843"/>
          </a:xfrm>
          <a:custGeom>
            <a:avLst/>
            <a:gdLst/>
            <a:ahLst/>
            <a:cxnLst/>
            <a:rect l="l" t="t" r="r" b="b"/>
            <a:pathLst>
              <a:path w="13818648" h="8341438">
                <a:moveTo>
                  <a:pt x="0" y="0"/>
                </a:moveTo>
                <a:lnTo>
                  <a:pt x="13818648" y="0"/>
                </a:lnTo>
                <a:lnTo>
                  <a:pt x="13818648" y="8341438"/>
                </a:lnTo>
                <a:lnTo>
                  <a:pt x="0" y="83414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Freeform 5">
            <a:extLst>
              <a:ext uri="{FF2B5EF4-FFF2-40B4-BE49-F238E27FC236}">
                <a16:creationId xmlns:a16="http://schemas.microsoft.com/office/drawing/2014/main" id="{FE5B3EEC-1D8F-0A3D-E27A-AD8AA654E042}"/>
              </a:ext>
            </a:extLst>
          </p:cNvPr>
          <p:cNvSpPr/>
          <p:nvPr/>
        </p:nvSpPr>
        <p:spPr>
          <a:xfrm>
            <a:off x="13394336" y="6616100"/>
            <a:ext cx="7315200" cy="3670900"/>
          </a:xfrm>
          <a:custGeom>
            <a:avLst/>
            <a:gdLst/>
            <a:ahLst/>
            <a:cxnLst/>
            <a:rect l="l" t="t" r="r" b="b"/>
            <a:pathLst>
              <a:path w="7315200" h="3670900">
                <a:moveTo>
                  <a:pt x="0" y="0"/>
                </a:moveTo>
                <a:lnTo>
                  <a:pt x="7315200" y="0"/>
                </a:lnTo>
                <a:lnTo>
                  <a:pt x="7315200" y="3670900"/>
                </a:lnTo>
                <a:lnTo>
                  <a:pt x="0" y="36709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7" name="Freeform 7">
            <a:extLst>
              <a:ext uri="{FF2B5EF4-FFF2-40B4-BE49-F238E27FC236}">
                <a16:creationId xmlns:a16="http://schemas.microsoft.com/office/drawing/2014/main" id="{ECE49FF9-78B4-A9E3-0443-F55D28871641}"/>
              </a:ext>
            </a:extLst>
          </p:cNvPr>
          <p:cNvSpPr/>
          <p:nvPr/>
        </p:nvSpPr>
        <p:spPr>
          <a:xfrm>
            <a:off x="16598096" y="1732506"/>
            <a:ext cx="907682" cy="1588939"/>
          </a:xfrm>
          <a:custGeom>
            <a:avLst/>
            <a:gdLst/>
            <a:ahLst/>
            <a:cxnLst/>
            <a:rect l="l" t="t" r="r" b="b"/>
            <a:pathLst>
              <a:path w="907682" h="1588939">
                <a:moveTo>
                  <a:pt x="0" y="0"/>
                </a:moveTo>
                <a:lnTo>
                  <a:pt x="907681" y="0"/>
                </a:lnTo>
                <a:lnTo>
                  <a:pt x="907681" y="1588939"/>
                </a:lnTo>
                <a:lnTo>
                  <a:pt x="0" y="158893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 name="Freeform 8">
            <a:extLst>
              <a:ext uri="{FF2B5EF4-FFF2-40B4-BE49-F238E27FC236}">
                <a16:creationId xmlns:a16="http://schemas.microsoft.com/office/drawing/2014/main" id="{AE99B52C-DEF3-5CAC-6A6D-EE3F7BFDBB78}"/>
              </a:ext>
            </a:extLst>
          </p:cNvPr>
          <p:cNvSpPr/>
          <p:nvPr/>
        </p:nvSpPr>
        <p:spPr>
          <a:xfrm>
            <a:off x="16053324" y="905659"/>
            <a:ext cx="1160673" cy="1160673"/>
          </a:xfrm>
          <a:custGeom>
            <a:avLst/>
            <a:gdLst/>
            <a:ahLst/>
            <a:cxnLst/>
            <a:rect l="l" t="t" r="r" b="b"/>
            <a:pathLst>
              <a:path w="1160673" h="1160673">
                <a:moveTo>
                  <a:pt x="0" y="0"/>
                </a:moveTo>
                <a:lnTo>
                  <a:pt x="1160673" y="0"/>
                </a:lnTo>
                <a:lnTo>
                  <a:pt x="1160673" y="1160673"/>
                </a:lnTo>
                <a:lnTo>
                  <a:pt x="0" y="116067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0" name="TextBox 10">
            <a:extLst>
              <a:ext uri="{FF2B5EF4-FFF2-40B4-BE49-F238E27FC236}">
                <a16:creationId xmlns:a16="http://schemas.microsoft.com/office/drawing/2014/main" id="{7A0DD408-A93D-7675-8252-F55D57257722}"/>
              </a:ext>
            </a:extLst>
          </p:cNvPr>
          <p:cNvSpPr txBox="1"/>
          <p:nvPr/>
        </p:nvSpPr>
        <p:spPr>
          <a:xfrm>
            <a:off x="876505" y="905659"/>
            <a:ext cx="14400775" cy="6340197"/>
          </a:xfrm>
          <a:prstGeom prst="rect">
            <a:avLst/>
          </a:prstGeom>
        </p:spPr>
        <p:txBody>
          <a:bodyPr wrap="square" lIns="0" tIns="0" rIns="0" bIns="0" rtlCol="0" anchor="t">
            <a:spAutoFit/>
          </a:bodyPr>
          <a:lstStyle/>
          <a:p>
            <a:pPr algn="l"/>
            <a:r>
              <a:rPr lang="en-GB" sz="3600" b="1" i="0" dirty="0">
                <a:solidFill>
                  <a:schemeClr val="accent1">
                    <a:lumMod val="50000"/>
                  </a:schemeClr>
                </a:solidFill>
                <a:effectLst/>
                <a:latin typeface="Cambria" panose="02040503050406030204" pitchFamily="18" charset="0"/>
                <a:ea typeface="Cambria" panose="02040503050406030204" pitchFamily="18" charset="0"/>
              </a:rPr>
              <a:t>           Class Diagram</a:t>
            </a:r>
          </a:p>
          <a:p>
            <a:endParaRPr lang="en-US" sz="3200" dirty="0"/>
          </a:p>
          <a:p>
            <a:endParaRPr lang="en-US" sz="3200" dirty="0"/>
          </a:p>
          <a:p>
            <a:endParaRPr lang="en-US" sz="3200" dirty="0"/>
          </a:p>
          <a:p>
            <a:r>
              <a:rPr lang="en-US" sz="3200" dirty="0">
                <a:latin typeface="Cambria" panose="02040503050406030204" pitchFamily="18" charset="0"/>
                <a:ea typeface="Cambria" panose="02040503050406030204" pitchFamily="18" charset="0"/>
              </a:rPr>
              <a:t>A </a:t>
            </a:r>
            <a:r>
              <a:rPr lang="en-US" sz="3200" b="1" dirty="0">
                <a:latin typeface="Cambria" panose="02040503050406030204" pitchFamily="18" charset="0"/>
                <a:ea typeface="Cambria" panose="02040503050406030204" pitchFamily="18" charset="0"/>
              </a:rPr>
              <a:t>Class Diagram</a:t>
            </a:r>
            <a:r>
              <a:rPr lang="en-US" sz="3200" dirty="0">
                <a:latin typeface="Cambria" panose="02040503050406030204" pitchFamily="18" charset="0"/>
                <a:ea typeface="Cambria" panose="02040503050406030204" pitchFamily="18" charset="0"/>
              </a:rPr>
              <a:t> represents the system's static structure, showing classes, their attributes, methods, and relationships.</a:t>
            </a:r>
          </a:p>
          <a:p>
            <a:pPr>
              <a:buFont typeface="Arial" panose="020B0604020202020204" pitchFamily="34" charset="0"/>
              <a:buChar char="•"/>
            </a:pPr>
            <a:r>
              <a:rPr lang="en-US" sz="3200" b="1" dirty="0">
                <a:latin typeface="Cambria" panose="02040503050406030204" pitchFamily="18" charset="0"/>
                <a:ea typeface="Cambria" panose="02040503050406030204" pitchFamily="18" charset="0"/>
              </a:rPr>
              <a:t>Classes</a:t>
            </a:r>
            <a:r>
              <a:rPr lang="en-US" sz="3200" dirty="0">
                <a:latin typeface="Cambria" panose="02040503050406030204" pitchFamily="18" charset="0"/>
                <a:ea typeface="Cambria" panose="02040503050406030204" pitchFamily="18" charset="0"/>
              </a:rPr>
              <a:t>: Key entities like Vehicle, Owner, Accident Report, and Payment.</a:t>
            </a:r>
          </a:p>
          <a:p>
            <a:pPr>
              <a:buFont typeface="Arial" panose="020B0604020202020204" pitchFamily="34" charset="0"/>
              <a:buChar char="•"/>
            </a:pPr>
            <a:r>
              <a:rPr lang="en-US" sz="3200" b="1" dirty="0">
                <a:latin typeface="Cambria" panose="02040503050406030204" pitchFamily="18" charset="0"/>
                <a:ea typeface="Cambria" panose="02040503050406030204" pitchFamily="18" charset="0"/>
              </a:rPr>
              <a:t>Attributes</a:t>
            </a:r>
            <a:r>
              <a:rPr lang="en-US" sz="3200" dirty="0">
                <a:latin typeface="Cambria" panose="02040503050406030204" pitchFamily="18" charset="0"/>
                <a:ea typeface="Cambria" panose="02040503050406030204" pitchFamily="18" charset="0"/>
              </a:rPr>
              <a:t>: Represent data (e.g., VIN, Owner’s QID).</a:t>
            </a:r>
          </a:p>
          <a:p>
            <a:pPr>
              <a:buFont typeface="Arial" panose="020B0604020202020204" pitchFamily="34" charset="0"/>
              <a:buChar char="•"/>
            </a:pPr>
            <a:r>
              <a:rPr lang="en-US" sz="3200" b="1" dirty="0">
                <a:latin typeface="Cambria" panose="02040503050406030204" pitchFamily="18" charset="0"/>
                <a:ea typeface="Cambria" panose="02040503050406030204" pitchFamily="18" charset="0"/>
              </a:rPr>
              <a:t>Methods</a:t>
            </a:r>
            <a:r>
              <a:rPr lang="en-US" sz="3200" dirty="0">
                <a:latin typeface="Cambria" panose="02040503050406030204" pitchFamily="18" charset="0"/>
                <a:ea typeface="Cambria" panose="02040503050406030204" pitchFamily="18" charset="0"/>
              </a:rPr>
              <a:t>: Define operations (e.g., Transfer Ownership, Process Payment).</a:t>
            </a:r>
          </a:p>
          <a:p>
            <a:pPr>
              <a:buFont typeface="Arial" panose="020B0604020202020204" pitchFamily="34" charset="0"/>
              <a:buChar char="•"/>
            </a:pPr>
            <a:r>
              <a:rPr lang="en-US" sz="3200" b="1" dirty="0">
                <a:latin typeface="Cambria" panose="02040503050406030204" pitchFamily="18" charset="0"/>
                <a:ea typeface="Cambria" panose="02040503050406030204" pitchFamily="18" charset="0"/>
              </a:rPr>
              <a:t>Relationships</a:t>
            </a:r>
            <a:r>
              <a:rPr lang="en-US" sz="3200" dirty="0">
                <a:latin typeface="Cambria" panose="02040503050406030204" pitchFamily="18" charset="0"/>
                <a:ea typeface="Cambria" panose="02040503050406030204" pitchFamily="18" charset="0"/>
              </a:rPr>
              <a:t>: Depict interactions between objects.</a:t>
            </a:r>
          </a:p>
          <a:p>
            <a:pPr>
              <a:buFont typeface="Arial" panose="020B0604020202020204" pitchFamily="34" charset="0"/>
              <a:buChar char="•"/>
            </a:pPr>
            <a:endParaRPr lang="en-US" sz="3200" dirty="0">
              <a:latin typeface="Cambria" panose="02040503050406030204" pitchFamily="18" charset="0"/>
              <a:ea typeface="Cambria" panose="02040503050406030204" pitchFamily="18" charset="0"/>
            </a:endParaRPr>
          </a:p>
          <a:p>
            <a:pPr marL="0" lvl="0" indent="0">
              <a:buNone/>
            </a:pPr>
            <a:br>
              <a:rPr lang="en-US" sz="2800" dirty="0">
                <a:latin typeface="Cambria" panose="02040503050406030204" pitchFamily="18" charset="0"/>
                <a:ea typeface="Cambria" panose="02040503050406030204" pitchFamily="18" charset="0"/>
              </a:rPr>
            </a:br>
            <a:endParaRPr lang="en-US"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69411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64A2F-929C-808F-1CDC-C99BEC233AA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EE7EB50-ACFB-ABA7-848D-23AB70C0E0E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a:extLst>
              <a:ext uri="{FF2B5EF4-FFF2-40B4-BE49-F238E27FC236}">
                <a16:creationId xmlns:a16="http://schemas.microsoft.com/office/drawing/2014/main" id="{3582F1F6-B548-5C34-74BC-87731F0F69B8}"/>
              </a:ext>
            </a:extLst>
          </p:cNvPr>
          <p:cNvSpPr/>
          <p:nvPr/>
        </p:nvSpPr>
        <p:spPr>
          <a:xfrm>
            <a:off x="448364" y="419100"/>
            <a:ext cx="15604960" cy="9263843"/>
          </a:xfrm>
          <a:custGeom>
            <a:avLst/>
            <a:gdLst/>
            <a:ahLst/>
            <a:cxnLst/>
            <a:rect l="l" t="t" r="r" b="b"/>
            <a:pathLst>
              <a:path w="13818648" h="8341438">
                <a:moveTo>
                  <a:pt x="0" y="0"/>
                </a:moveTo>
                <a:lnTo>
                  <a:pt x="13818648" y="0"/>
                </a:lnTo>
                <a:lnTo>
                  <a:pt x="13818648" y="8341438"/>
                </a:lnTo>
                <a:lnTo>
                  <a:pt x="0" y="83414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Freeform 5">
            <a:extLst>
              <a:ext uri="{FF2B5EF4-FFF2-40B4-BE49-F238E27FC236}">
                <a16:creationId xmlns:a16="http://schemas.microsoft.com/office/drawing/2014/main" id="{26B774EA-324C-291A-13D8-B2ADD7DCBA3B}"/>
              </a:ext>
            </a:extLst>
          </p:cNvPr>
          <p:cNvSpPr/>
          <p:nvPr/>
        </p:nvSpPr>
        <p:spPr>
          <a:xfrm>
            <a:off x="13394336" y="6616100"/>
            <a:ext cx="7315200" cy="3670900"/>
          </a:xfrm>
          <a:custGeom>
            <a:avLst/>
            <a:gdLst/>
            <a:ahLst/>
            <a:cxnLst/>
            <a:rect l="l" t="t" r="r" b="b"/>
            <a:pathLst>
              <a:path w="7315200" h="3670900">
                <a:moveTo>
                  <a:pt x="0" y="0"/>
                </a:moveTo>
                <a:lnTo>
                  <a:pt x="7315200" y="0"/>
                </a:lnTo>
                <a:lnTo>
                  <a:pt x="7315200" y="3670900"/>
                </a:lnTo>
                <a:lnTo>
                  <a:pt x="0" y="36709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7" name="Freeform 7">
            <a:extLst>
              <a:ext uri="{FF2B5EF4-FFF2-40B4-BE49-F238E27FC236}">
                <a16:creationId xmlns:a16="http://schemas.microsoft.com/office/drawing/2014/main" id="{464A8B6B-342C-D7E3-EEC6-24701413B991}"/>
              </a:ext>
            </a:extLst>
          </p:cNvPr>
          <p:cNvSpPr/>
          <p:nvPr/>
        </p:nvSpPr>
        <p:spPr>
          <a:xfrm>
            <a:off x="16598096" y="1732506"/>
            <a:ext cx="907682" cy="1588939"/>
          </a:xfrm>
          <a:custGeom>
            <a:avLst/>
            <a:gdLst/>
            <a:ahLst/>
            <a:cxnLst/>
            <a:rect l="l" t="t" r="r" b="b"/>
            <a:pathLst>
              <a:path w="907682" h="1588939">
                <a:moveTo>
                  <a:pt x="0" y="0"/>
                </a:moveTo>
                <a:lnTo>
                  <a:pt x="907681" y="0"/>
                </a:lnTo>
                <a:lnTo>
                  <a:pt x="907681" y="1588939"/>
                </a:lnTo>
                <a:lnTo>
                  <a:pt x="0" y="158893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 name="Freeform 8">
            <a:extLst>
              <a:ext uri="{FF2B5EF4-FFF2-40B4-BE49-F238E27FC236}">
                <a16:creationId xmlns:a16="http://schemas.microsoft.com/office/drawing/2014/main" id="{7B16D92F-74C1-9E0F-0330-C0FAF6ECD108}"/>
              </a:ext>
            </a:extLst>
          </p:cNvPr>
          <p:cNvSpPr/>
          <p:nvPr/>
        </p:nvSpPr>
        <p:spPr>
          <a:xfrm>
            <a:off x="16053324" y="905659"/>
            <a:ext cx="1160673" cy="1160673"/>
          </a:xfrm>
          <a:custGeom>
            <a:avLst/>
            <a:gdLst/>
            <a:ahLst/>
            <a:cxnLst/>
            <a:rect l="l" t="t" r="r" b="b"/>
            <a:pathLst>
              <a:path w="1160673" h="1160673">
                <a:moveTo>
                  <a:pt x="0" y="0"/>
                </a:moveTo>
                <a:lnTo>
                  <a:pt x="1160673" y="0"/>
                </a:lnTo>
                <a:lnTo>
                  <a:pt x="1160673" y="1160673"/>
                </a:lnTo>
                <a:lnTo>
                  <a:pt x="0" y="116067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0" name="TextBox 10">
            <a:extLst>
              <a:ext uri="{FF2B5EF4-FFF2-40B4-BE49-F238E27FC236}">
                <a16:creationId xmlns:a16="http://schemas.microsoft.com/office/drawing/2014/main" id="{577F9F16-D77C-F183-0323-C781B9D6564D}"/>
              </a:ext>
            </a:extLst>
          </p:cNvPr>
          <p:cNvSpPr txBox="1"/>
          <p:nvPr/>
        </p:nvSpPr>
        <p:spPr>
          <a:xfrm>
            <a:off x="914400" y="898262"/>
            <a:ext cx="13769796" cy="7755969"/>
          </a:xfrm>
          <a:prstGeom prst="rect">
            <a:avLst/>
          </a:prstGeom>
        </p:spPr>
        <p:txBody>
          <a:bodyPr wrap="square" lIns="0" tIns="0" rIns="0" bIns="0" rtlCol="0" anchor="t">
            <a:spAutoFit/>
          </a:bodyPr>
          <a:lstStyle/>
          <a:p>
            <a:pPr algn="l"/>
            <a:r>
              <a:rPr lang="en-US" sz="3600" b="1" i="0" dirty="0">
                <a:solidFill>
                  <a:schemeClr val="accent1">
                    <a:lumMod val="50000"/>
                  </a:schemeClr>
                </a:solidFill>
                <a:effectLst/>
                <a:latin typeface="Cambria" panose="02040503050406030204" pitchFamily="18" charset="0"/>
                <a:ea typeface="Cambria" panose="02040503050406030204" pitchFamily="18" charset="0"/>
              </a:rPr>
              <a:t>         Use Case Specifications</a:t>
            </a:r>
          </a:p>
          <a:p>
            <a:pPr algn="l"/>
            <a:endParaRPr lang="en-US" sz="3600" b="1" i="0" dirty="0">
              <a:solidFill>
                <a:schemeClr val="accent1">
                  <a:lumMod val="50000"/>
                </a:schemeClr>
              </a:solidFill>
              <a:effectLst/>
              <a:latin typeface="Cambria" panose="02040503050406030204" pitchFamily="18" charset="0"/>
              <a:ea typeface="Cambria" panose="02040503050406030204" pitchFamily="18" charset="0"/>
            </a:endParaRPr>
          </a:p>
          <a:p>
            <a:endParaRPr lang="en-US" sz="2400" dirty="0"/>
          </a:p>
          <a:p>
            <a:pPr algn="l">
              <a:buFont typeface="+mj-lt"/>
              <a:buAutoNum type="arabicPeriod"/>
            </a:pPr>
            <a:r>
              <a:rPr lang="en-US" sz="2400" b="1" i="0" dirty="0">
                <a:solidFill>
                  <a:srgbClr val="0D0D0D"/>
                </a:solidFill>
                <a:effectLst/>
                <a:latin typeface="Cambria" panose="02040503050406030204" pitchFamily="18" charset="0"/>
                <a:ea typeface="Cambria" panose="02040503050406030204" pitchFamily="18" charset="0"/>
              </a:rPr>
              <a:t>Renew a Registered Vehicle</a:t>
            </a:r>
            <a:r>
              <a:rPr lang="en-US" sz="2400" dirty="0">
                <a:solidFill>
                  <a:srgbClr val="0D0D0D"/>
                </a:solidFill>
                <a:latin typeface="Cambria" panose="02040503050406030204" pitchFamily="18" charset="0"/>
                <a:ea typeface="Cambria" panose="02040503050406030204" pitchFamily="18" charset="0"/>
              </a:rPr>
              <a:t>.</a:t>
            </a:r>
          </a:p>
          <a:p>
            <a:pPr algn="l">
              <a:buFont typeface="+mj-lt"/>
              <a:buAutoNum type="arabicPeriod"/>
            </a:pPr>
            <a:endParaRPr lang="en-US" sz="2400" dirty="0">
              <a:solidFill>
                <a:srgbClr val="0D0D0D"/>
              </a:solidFill>
              <a:latin typeface="Cambria" panose="02040503050406030204" pitchFamily="18" charset="0"/>
              <a:ea typeface="Cambria" panose="02040503050406030204" pitchFamily="18" charset="0"/>
            </a:endParaRPr>
          </a:p>
          <a:p>
            <a:pPr algn="l">
              <a:buFont typeface="+mj-lt"/>
              <a:buAutoNum type="arabicPeriod"/>
            </a:pPr>
            <a:r>
              <a:rPr lang="en-US" sz="2400" b="1" i="0" dirty="0">
                <a:solidFill>
                  <a:srgbClr val="0D0D0D"/>
                </a:solidFill>
                <a:effectLst/>
                <a:latin typeface="Cambria" panose="02040503050406030204" pitchFamily="18" charset="0"/>
                <a:ea typeface="Cambria" panose="02040503050406030204" pitchFamily="18" charset="0"/>
              </a:rPr>
              <a:t>Transfer Registered Vehicle</a:t>
            </a:r>
            <a:r>
              <a:rPr lang="en-US" sz="2400" b="0" i="0" dirty="0">
                <a:solidFill>
                  <a:srgbClr val="0D0D0D"/>
                </a:solidFill>
                <a:effectLst/>
                <a:latin typeface="Cambria" panose="02040503050406030204" pitchFamily="18" charset="0"/>
                <a:ea typeface="Cambria" panose="02040503050406030204" pitchFamily="18" charset="0"/>
              </a:rPr>
              <a:t>:</a:t>
            </a:r>
          </a:p>
          <a:p>
            <a:pPr algn="l">
              <a:buFont typeface="+mj-lt"/>
              <a:buAutoNum type="arabicPeriod"/>
            </a:pPr>
            <a:endParaRPr lang="en-US" sz="2400" b="1" i="0" dirty="0">
              <a:solidFill>
                <a:srgbClr val="0D0D0D"/>
              </a:solidFill>
              <a:effectLst/>
              <a:latin typeface="Cambria" panose="02040503050406030204" pitchFamily="18" charset="0"/>
              <a:ea typeface="Cambria" panose="02040503050406030204" pitchFamily="18" charset="0"/>
            </a:endParaRPr>
          </a:p>
          <a:p>
            <a:pPr algn="l">
              <a:buFont typeface="+mj-lt"/>
              <a:buAutoNum type="arabicPeriod"/>
            </a:pPr>
            <a:r>
              <a:rPr lang="en-US" sz="2400" b="1" i="0" dirty="0">
                <a:solidFill>
                  <a:srgbClr val="0D0D0D"/>
                </a:solidFill>
                <a:effectLst/>
                <a:latin typeface="Cambria" panose="02040503050406030204" pitchFamily="18" charset="0"/>
                <a:ea typeface="Cambria" panose="02040503050406030204" pitchFamily="18" charset="0"/>
              </a:rPr>
              <a:t>Pay Fines and Invoices</a:t>
            </a:r>
            <a:r>
              <a:rPr lang="en-US" sz="2400" b="0" i="0" dirty="0">
                <a:solidFill>
                  <a:srgbClr val="0D0D0D"/>
                </a:solidFill>
                <a:effectLst/>
                <a:latin typeface="Cambria" panose="02040503050406030204" pitchFamily="18" charset="0"/>
                <a:ea typeface="Cambria" panose="02040503050406030204" pitchFamily="18" charset="0"/>
              </a:rPr>
              <a:t>:</a:t>
            </a:r>
          </a:p>
          <a:p>
            <a:pPr algn="l">
              <a:buFont typeface="+mj-lt"/>
              <a:buAutoNum type="arabicPeriod"/>
            </a:pPr>
            <a:endParaRPr lang="en-US" sz="2400" b="1" i="0" dirty="0">
              <a:solidFill>
                <a:srgbClr val="0D0D0D"/>
              </a:solidFill>
              <a:effectLst/>
              <a:latin typeface="Cambria" panose="02040503050406030204" pitchFamily="18" charset="0"/>
              <a:ea typeface="Cambria" panose="02040503050406030204" pitchFamily="18" charset="0"/>
            </a:endParaRPr>
          </a:p>
          <a:p>
            <a:pPr algn="l">
              <a:buFont typeface="+mj-lt"/>
              <a:buAutoNum type="arabicPeriod"/>
            </a:pPr>
            <a:r>
              <a:rPr lang="en-US" sz="2400" b="1" i="0" dirty="0">
                <a:solidFill>
                  <a:srgbClr val="0D0D0D"/>
                </a:solidFill>
                <a:effectLst/>
                <a:latin typeface="Cambria" panose="02040503050406030204" pitchFamily="18" charset="0"/>
                <a:ea typeface="Cambria" panose="02040503050406030204" pitchFamily="18" charset="0"/>
              </a:rPr>
              <a:t>Transfer Unregistered Vehicle</a:t>
            </a:r>
            <a:r>
              <a:rPr lang="en-US" sz="2400" b="0" i="0" dirty="0">
                <a:solidFill>
                  <a:srgbClr val="0D0D0D"/>
                </a:solidFill>
                <a:effectLst/>
                <a:latin typeface="Cambria" panose="02040503050406030204" pitchFamily="18" charset="0"/>
                <a:ea typeface="Cambria" panose="02040503050406030204" pitchFamily="18" charset="0"/>
              </a:rPr>
              <a:t>:</a:t>
            </a:r>
          </a:p>
          <a:p>
            <a:pPr lvl="0"/>
            <a:endParaRPr lang="en-US" sz="2400" dirty="0">
              <a:latin typeface="Cambria" panose="02040503050406030204" pitchFamily="18" charset="0"/>
              <a:ea typeface="Cambria" panose="02040503050406030204" pitchFamily="18" charset="0"/>
            </a:endParaRPr>
          </a:p>
          <a:p>
            <a:pPr lvl="0"/>
            <a:r>
              <a:rPr lang="en-US" sz="2400" dirty="0">
                <a:latin typeface="Cambria" panose="02040503050406030204" pitchFamily="18" charset="0"/>
                <a:ea typeface="Cambria" panose="02040503050406030204" pitchFamily="18" charset="0"/>
              </a:rPr>
              <a:t>Each use case was analyzed and documented, defining:</a:t>
            </a:r>
          </a:p>
          <a:p>
            <a:pPr lvl="1"/>
            <a:r>
              <a:rPr lang="en-US" sz="2400" dirty="0">
                <a:latin typeface="Cambria" panose="02040503050406030204" pitchFamily="18" charset="0"/>
                <a:ea typeface="Cambria" panose="02040503050406030204" pitchFamily="18" charset="0"/>
              </a:rPr>
              <a:t>1. Actors, preconditions, postconditions.</a:t>
            </a:r>
          </a:p>
          <a:p>
            <a:pPr lvl="1"/>
            <a:r>
              <a:rPr lang="en-US" sz="2400" dirty="0">
                <a:latin typeface="Cambria" panose="02040503050406030204" pitchFamily="18" charset="0"/>
                <a:ea typeface="Cambria" panose="02040503050406030204" pitchFamily="18" charset="0"/>
              </a:rPr>
              <a:t>2. Normal and alternative flows.</a:t>
            </a:r>
            <a:br>
              <a:rPr lang="en-US" sz="2400" dirty="0">
                <a:latin typeface="Cambria" panose="02040503050406030204" pitchFamily="18" charset="0"/>
                <a:ea typeface="Cambria" panose="02040503050406030204" pitchFamily="18" charset="0"/>
              </a:rPr>
            </a:br>
            <a:endParaRPr lang="en-US" sz="2400" dirty="0">
              <a:latin typeface="Cambria" panose="02040503050406030204" pitchFamily="18" charset="0"/>
              <a:ea typeface="Cambria" panose="02040503050406030204" pitchFamily="18" charset="0"/>
            </a:endParaRPr>
          </a:p>
          <a:p>
            <a:r>
              <a:rPr lang="en-GB" sz="2400" b="1" dirty="0">
                <a:latin typeface="Cambria" panose="02040503050406030204" pitchFamily="18" charset="0"/>
                <a:ea typeface="Cambria" panose="02040503050406030204" pitchFamily="18" charset="0"/>
              </a:rPr>
              <a:t>Challenges Faced:</a:t>
            </a:r>
          </a:p>
          <a:p>
            <a:r>
              <a:rPr lang="en-GB" sz="2400" dirty="0">
                <a:latin typeface="Cambria" panose="02040503050406030204" pitchFamily="18" charset="0"/>
                <a:ea typeface="Cambria" panose="02040503050406030204" pitchFamily="18" charset="0"/>
              </a:rPr>
              <a:t> -</a:t>
            </a:r>
            <a:r>
              <a:rPr lang="en-GB" sz="2400" b="1" i="0" dirty="0">
                <a:solidFill>
                  <a:srgbClr val="0D0D0D"/>
                </a:solidFill>
                <a:effectLst/>
                <a:latin typeface="Cambria" panose="02040503050406030204" pitchFamily="18" charset="0"/>
                <a:ea typeface="Cambria" panose="02040503050406030204" pitchFamily="18" charset="0"/>
              </a:rPr>
              <a:t> Defining System Boundaries</a:t>
            </a:r>
            <a:r>
              <a:rPr lang="en-GB" sz="2400" b="0" i="0" dirty="0">
                <a:solidFill>
                  <a:srgbClr val="0D0D0D"/>
                </a:solidFill>
                <a:effectLst/>
                <a:latin typeface="Cambria" panose="02040503050406030204" pitchFamily="18" charset="0"/>
                <a:ea typeface="Cambria" panose="02040503050406030204" pitchFamily="18" charset="0"/>
              </a:rPr>
              <a:t>:</a:t>
            </a:r>
            <a:r>
              <a:rPr lang="en-GB" sz="2400" dirty="0">
                <a:latin typeface="Cambria" panose="02040503050406030204" pitchFamily="18" charset="0"/>
                <a:ea typeface="Cambria" panose="02040503050406030204" pitchFamily="18" charset="0"/>
              </a:rPr>
              <a:t> Defining system boundaries and ensuring clear distinctions  between different components (e.g., vehicle registration vs. accident reporting).</a:t>
            </a:r>
            <a:br>
              <a:rPr lang="en-GB" sz="2400" dirty="0">
                <a:latin typeface="Cambria" panose="02040503050406030204" pitchFamily="18" charset="0"/>
                <a:ea typeface="Cambria" panose="02040503050406030204" pitchFamily="18" charset="0"/>
              </a:rPr>
            </a:br>
            <a:r>
              <a:rPr lang="en-GB" sz="2400" dirty="0">
                <a:latin typeface="Cambria" panose="02040503050406030204" pitchFamily="18" charset="0"/>
                <a:ea typeface="Cambria" panose="02040503050406030204" pitchFamily="18" charset="0"/>
              </a:rPr>
              <a:t>- </a:t>
            </a:r>
            <a:r>
              <a:rPr lang="en-GB" sz="2400" b="1" i="0" dirty="0">
                <a:solidFill>
                  <a:srgbClr val="0D0D0D"/>
                </a:solidFill>
                <a:effectLst/>
                <a:latin typeface="Cambria" panose="02040503050406030204" pitchFamily="18" charset="0"/>
                <a:ea typeface="Cambria" panose="02040503050406030204" pitchFamily="18" charset="0"/>
              </a:rPr>
              <a:t>Identifying and Validating Actors and Interactions</a:t>
            </a:r>
            <a:r>
              <a:rPr lang="en-GB" sz="2400" b="0" i="0" dirty="0">
                <a:solidFill>
                  <a:srgbClr val="0D0D0D"/>
                </a:solidFill>
                <a:effectLst/>
                <a:latin typeface="Cambria" panose="02040503050406030204" pitchFamily="18" charset="0"/>
                <a:ea typeface="Cambria" panose="02040503050406030204" pitchFamily="18" charset="0"/>
              </a:rPr>
              <a:t>: </a:t>
            </a:r>
            <a:r>
              <a:rPr lang="en-GB" sz="2400" dirty="0">
                <a:latin typeface="Cambria" panose="02040503050406030204" pitchFamily="18" charset="0"/>
                <a:ea typeface="Cambria" panose="02040503050406030204" pitchFamily="18" charset="0"/>
              </a:rPr>
              <a:t>Identifying and validating system actors and interactions.</a:t>
            </a:r>
          </a:p>
        </p:txBody>
      </p:sp>
    </p:spTree>
    <p:extLst>
      <p:ext uri="{BB962C8B-B14F-4D97-AF65-F5344CB8AC3E}">
        <p14:creationId xmlns:p14="http://schemas.microsoft.com/office/powerpoint/2010/main" val="3277535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CB844-8E5B-B457-FD71-C6A15EB3A5D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5487509-00BA-571D-A5DD-00B95360E930}"/>
              </a:ext>
            </a:extLst>
          </p:cNvPr>
          <p:cNvSpPr/>
          <p:nvPr/>
        </p:nvSpPr>
        <p:spPr>
          <a:xfrm>
            <a:off x="-782222" y="-9247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a:extLst>
              <a:ext uri="{FF2B5EF4-FFF2-40B4-BE49-F238E27FC236}">
                <a16:creationId xmlns:a16="http://schemas.microsoft.com/office/drawing/2014/main" id="{D793FD62-4C9F-9FF9-BABC-F2F7500F3268}"/>
              </a:ext>
            </a:extLst>
          </p:cNvPr>
          <p:cNvSpPr/>
          <p:nvPr/>
        </p:nvSpPr>
        <p:spPr>
          <a:xfrm>
            <a:off x="448364" y="419100"/>
            <a:ext cx="15604960" cy="9263843"/>
          </a:xfrm>
          <a:custGeom>
            <a:avLst/>
            <a:gdLst/>
            <a:ahLst/>
            <a:cxnLst/>
            <a:rect l="l" t="t" r="r" b="b"/>
            <a:pathLst>
              <a:path w="13818648" h="8341438">
                <a:moveTo>
                  <a:pt x="0" y="0"/>
                </a:moveTo>
                <a:lnTo>
                  <a:pt x="13818648" y="0"/>
                </a:lnTo>
                <a:lnTo>
                  <a:pt x="13818648" y="8341438"/>
                </a:lnTo>
                <a:lnTo>
                  <a:pt x="0" y="83414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Freeform 5">
            <a:extLst>
              <a:ext uri="{FF2B5EF4-FFF2-40B4-BE49-F238E27FC236}">
                <a16:creationId xmlns:a16="http://schemas.microsoft.com/office/drawing/2014/main" id="{406AB67B-109E-56A7-AA69-A5B736D84DFB}"/>
              </a:ext>
            </a:extLst>
          </p:cNvPr>
          <p:cNvSpPr/>
          <p:nvPr/>
        </p:nvSpPr>
        <p:spPr>
          <a:xfrm>
            <a:off x="13394336" y="6616100"/>
            <a:ext cx="7315200" cy="3670900"/>
          </a:xfrm>
          <a:custGeom>
            <a:avLst/>
            <a:gdLst/>
            <a:ahLst/>
            <a:cxnLst/>
            <a:rect l="l" t="t" r="r" b="b"/>
            <a:pathLst>
              <a:path w="7315200" h="3670900">
                <a:moveTo>
                  <a:pt x="0" y="0"/>
                </a:moveTo>
                <a:lnTo>
                  <a:pt x="7315200" y="0"/>
                </a:lnTo>
                <a:lnTo>
                  <a:pt x="7315200" y="3670900"/>
                </a:lnTo>
                <a:lnTo>
                  <a:pt x="0" y="36709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7" name="Freeform 7">
            <a:extLst>
              <a:ext uri="{FF2B5EF4-FFF2-40B4-BE49-F238E27FC236}">
                <a16:creationId xmlns:a16="http://schemas.microsoft.com/office/drawing/2014/main" id="{AF2D60DE-5E8E-F641-3B6C-985DE5769C49}"/>
              </a:ext>
            </a:extLst>
          </p:cNvPr>
          <p:cNvSpPr/>
          <p:nvPr/>
        </p:nvSpPr>
        <p:spPr>
          <a:xfrm>
            <a:off x="16598096" y="1732506"/>
            <a:ext cx="907682" cy="1588939"/>
          </a:xfrm>
          <a:custGeom>
            <a:avLst/>
            <a:gdLst/>
            <a:ahLst/>
            <a:cxnLst/>
            <a:rect l="l" t="t" r="r" b="b"/>
            <a:pathLst>
              <a:path w="907682" h="1588939">
                <a:moveTo>
                  <a:pt x="0" y="0"/>
                </a:moveTo>
                <a:lnTo>
                  <a:pt x="907681" y="0"/>
                </a:lnTo>
                <a:lnTo>
                  <a:pt x="907681" y="1588939"/>
                </a:lnTo>
                <a:lnTo>
                  <a:pt x="0" y="158893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 name="Freeform 8">
            <a:extLst>
              <a:ext uri="{FF2B5EF4-FFF2-40B4-BE49-F238E27FC236}">
                <a16:creationId xmlns:a16="http://schemas.microsoft.com/office/drawing/2014/main" id="{D0B12CBE-A890-CD00-38D8-864BEA0E22D0}"/>
              </a:ext>
            </a:extLst>
          </p:cNvPr>
          <p:cNvSpPr/>
          <p:nvPr/>
        </p:nvSpPr>
        <p:spPr>
          <a:xfrm>
            <a:off x="16053324" y="905659"/>
            <a:ext cx="1160673" cy="1160673"/>
          </a:xfrm>
          <a:custGeom>
            <a:avLst/>
            <a:gdLst/>
            <a:ahLst/>
            <a:cxnLst/>
            <a:rect l="l" t="t" r="r" b="b"/>
            <a:pathLst>
              <a:path w="1160673" h="1160673">
                <a:moveTo>
                  <a:pt x="0" y="0"/>
                </a:moveTo>
                <a:lnTo>
                  <a:pt x="1160673" y="0"/>
                </a:lnTo>
                <a:lnTo>
                  <a:pt x="1160673" y="1160673"/>
                </a:lnTo>
                <a:lnTo>
                  <a:pt x="0" y="116067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0" name="TextBox 10">
            <a:extLst>
              <a:ext uri="{FF2B5EF4-FFF2-40B4-BE49-F238E27FC236}">
                <a16:creationId xmlns:a16="http://schemas.microsoft.com/office/drawing/2014/main" id="{74787A24-ACBE-920C-B4AD-5CD578139141}"/>
              </a:ext>
            </a:extLst>
          </p:cNvPr>
          <p:cNvSpPr txBox="1"/>
          <p:nvPr/>
        </p:nvSpPr>
        <p:spPr>
          <a:xfrm>
            <a:off x="848762" y="800100"/>
            <a:ext cx="13769796" cy="7032694"/>
          </a:xfrm>
          <a:prstGeom prst="rect">
            <a:avLst/>
          </a:prstGeom>
        </p:spPr>
        <p:txBody>
          <a:bodyPr wrap="square" lIns="0" tIns="0" rIns="0" bIns="0" rtlCol="0" anchor="t">
            <a:spAutoFit/>
          </a:bodyPr>
          <a:lstStyle/>
          <a:p>
            <a:pPr marL="0" lvl="0" indent="0">
              <a:spcBef>
                <a:spcPts val="3000"/>
              </a:spcBef>
              <a:buNone/>
            </a:pPr>
            <a:r>
              <a:rPr lang="en-US" sz="3600" b="1" dirty="0">
                <a:solidFill>
                  <a:schemeClr val="accent1">
                    <a:lumMod val="50000"/>
                  </a:schemeClr>
                </a:solidFill>
                <a:latin typeface="Cambria" panose="02040503050406030204" pitchFamily="18" charset="0"/>
                <a:ea typeface="Cambria" panose="02040503050406030204" pitchFamily="18" charset="0"/>
              </a:rPr>
              <a:t>           Milestone 2 - Design and Implementation</a:t>
            </a:r>
          </a:p>
          <a:p>
            <a:pPr marL="0" lvl="0" indent="0">
              <a:spcBef>
                <a:spcPts val="3000"/>
              </a:spcBef>
              <a:buNone/>
            </a:pPr>
            <a:endParaRPr lang="en-US" sz="3600" b="1" dirty="0">
              <a:solidFill>
                <a:schemeClr val="accent1">
                  <a:lumMod val="50000"/>
                </a:schemeClr>
              </a:solidFill>
              <a:latin typeface="Cambria" panose="02040503050406030204" pitchFamily="18" charset="0"/>
              <a:ea typeface="Cambria" panose="02040503050406030204" pitchFamily="18" charset="0"/>
            </a:endParaRPr>
          </a:p>
          <a:p>
            <a:r>
              <a:rPr lang="en-US" sz="3600" b="1" dirty="0">
                <a:latin typeface="Cambria" panose="02040503050406030204" pitchFamily="18" charset="0"/>
                <a:ea typeface="Cambria" panose="02040503050406030204" pitchFamily="18" charset="0"/>
              </a:rPr>
              <a:t>Milestone 2</a:t>
            </a:r>
            <a:r>
              <a:rPr lang="en-US" sz="3600" dirty="0">
                <a:latin typeface="Cambria" panose="02040503050406030204" pitchFamily="18" charset="0"/>
                <a:ea typeface="Cambria" panose="02040503050406030204" pitchFamily="18" charset="0"/>
              </a:rPr>
              <a:t> focused on designing and implementing core features, including:</a:t>
            </a:r>
          </a:p>
          <a:p>
            <a:pPr>
              <a:buFont typeface="Arial" panose="020B0604020202020204" pitchFamily="34" charset="0"/>
              <a:buChar char="•"/>
            </a:pPr>
            <a:r>
              <a:rPr lang="en-US" sz="3600" b="1" dirty="0">
                <a:latin typeface="Cambria" panose="02040503050406030204" pitchFamily="18" charset="0"/>
                <a:ea typeface="Cambria" panose="02040503050406030204" pitchFamily="18" charset="0"/>
              </a:rPr>
              <a:t>Sequence Diagrams</a:t>
            </a:r>
            <a:r>
              <a:rPr lang="en-US" sz="3600" dirty="0">
                <a:latin typeface="Cambria" panose="02040503050406030204" pitchFamily="18" charset="0"/>
                <a:ea typeface="Cambria" panose="02040503050406030204" pitchFamily="18" charset="0"/>
              </a:rPr>
              <a:t>: For use cases like "Transfer Registered Vehicle" and "Pay Fines and Invoices.“</a:t>
            </a:r>
          </a:p>
          <a:p>
            <a:endParaRPr lang="en-US" sz="36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sz="3600" b="1" dirty="0">
                <a:latin typeface="Cambria" panose="02040503050406030204" pitchFamily="18" charset="0"/>
                <a:ea typeface="Cambria" panose="02040503050406030204" pitchFamily="18" charset="0"/>
              </a:rPr>
              <a:t>Class Diagram</a:t>
            </a:r>
            <a:r>
              <a:rPr lang="en-US" sz="3600" dirty="0">
                <a:latin typeface="Cambria" panose="02040503050406030204" pitchFamily="18" charset="0"/>
                <a:ea typeface="Cambria" panose="02040503050406030204" pitchFamily="18" charset="0"/>
              </a:rPr>
              <a:t>: updated. </a:t>
            </a:r>
          </a:p>
          <a:p>
            <a:pPr>
              <a:buFont typeface="Arial" panose="020B0604020202020204" pitchFamily="34" charset="0"/>
              <a:buChar char="•"/>
            </a:pPr>
            <a:r>
              <a:rPr lang="en-US" sz="3600" b="1" dirty="0">
                <a:latin typeface="Cambria" panose="02040503050406030204" pitchFamily="18" charset="0"/>
                <a:ea typeface="Cambria" panose="02040503050406030204" pitchFamily="18" charset="0"/>
              </a:rPr>
              <a:t>Constraints &amp; NFRs</a:t>
            </a:r>
            <a:r>
              <a:rPr lang="en-US" sz="3600" dirty="0">
                <a:latin typeface="Cambria" panose="02040503050406030204" pitchFamily="18" charset="0"/>
                <a:ea typeface="Cambria" panose="02040503050406030204" pitchFamily="18" charset="0"/>
              </a:rPr>
              <a:t>: Addressed performance, and Usability.</a:t>
            </a:r>
          </a:p>
          <a:p>
            <a:pPr>
              <a:buFont typeface="Arial" panose="020B0604020202020204" pitchFamily="34" charset="0"/>
              <a:buChar char="•"/>
            </a:pPr>
            <a:r>
              <a:rPr lang="en-US" sz="3600" b="1" dirty="0">
                <a:latin typeface="Cambria" panose="02040503050406030204" pitchFamily="18" charset="0"/>
                <a:ea typeface="Cambria" panose="02040503050406030204" pitchFamily="18" charset="0"/>
              </a:rPr>
              <a:t>Use Case Implementation</a:t>
            </a:r>
            <a:r>
              <a:rPr lang="en-US" sz="3600" dirty="0">
                <a:latin typeface="Cambria" panose="02040503050406030204" pitchFamily="18" charset="0"/>
                <a:ea typeface="Cambria" panose="02040503050406030204" pitchFamily="18" charset="0"/>
              </a:rPr>
              <a:t>: </a:t>
            </a:r>
            <a:r>
              <a:rPr lang="en-US" sz="3600" b="1" dirty="0">
                <a:latin typeface="Cambria" panose="02040503050406030204" pitchFamily="18" charset="0"/>
                <a:ea typeface="Cambria" panose="02040503050406030204" pitchFamily="18" charset="0"/>
              </a:rPr>
              <a:t>Transfer Registered vehicle </a:t>
            </a:r>
            <a:r>
              <a:rPr lang="en-US" sz="3600" dirty="0">
                <a:latin typeface="Cambria" panose="02040503050406030204" pitchFamily="18" charset="0"/>
                <a:ea typeface="Cambria" panose="02040503050406030204" pitchFamily="18" charset="0"/>
              </a:rPr>
              <a:t>and </a:t>
            </a:r>
            <a:r>
              <a:rPr lang="en-US" sz="3600" b="1" dirty="0">
                <a:latin typeface="Cambria" panose="02040503050406030204" pitchFamily="18" charset="0"/>
                <a:ea typeface="Cambria" panose="02040503050406030204" pitchFamily="18" charset="0"/>
              </a:rPr>
              <a:t>Manage Accident.</a:t>
            </a:r>
          </a:p>
          <a:p>
            <a:pPr>
              <a:buFont typeface="Arial" panose="020B0604020202020204" pitchFamily="34" charset="0"/>
              <a:buChar char="•"/>
            </a:pPr>
            <a:r>
              <a:rPr lang="en-US" sz="3600" b="1" dirty="0">
                <a:latin typeface="Cambria" panose="02040503050406030204" pitchFamily="18" charset="0"/>
                <a:ea typeface="Cambria" panose="02040503050406030204" pitchFamily="18" charset="0"/>
              </a:rPr>
              <a:t>Testing</a:t>
            </a:r>
            <a:r>
              <a:rPr lang="en-US" sz="3600" dirty="0">
                <a:latin typeface="Cambria" panose="02040503050406030204" pitchFamily="18" charset="0"/>
                <a:ea typeface="Cambria" panose="02040503050406030204" pitchFamily="18" charset="0"/>
              </a:rPr>
              <a:t>: Conducted unit, integration, and quality requirement testing.</a:t>
            </a:r>
          </a:p>
        </p:txBody>
      </p:sp>
    </p:spTree>
    <p:extLst>
      <p:ext uri="{BB962C8B-B14F-4D97-AF65-F5344CB8AC3E}">
        <p14:creationId xmlns:p14="http://schemas.microsoft.com/office/powerpoint/2010/main" val="2317089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5C84C-C6A6-4370-C03F-48F397B91E0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52C23C5-4339-F0BA-50CB-0C54050C420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a:extLst>
              <a:ext uri="{FF2B5EF4-FFF2-40B4-BE49-F238E27FC236}">
                <a16:creationId xmlns:a16="http://schemas.microsoft.com/office/drawing/2014/main" id="{B261571B-9F27-2887-25DE-334DA197FB27}"/>
              </a:ext>
            </a:extLst>
          </p:cNvPr>
          <p:cNvSpPr/>
          <p:nvPr/>
        </p:nvSpPr>
        <p:spPr>
          <a:xfrm>
            <a:off x="448364" y="419100"/>
            <a:ext cx="15604960" cy="9263843"/>
          </a:xfrm>
          <a:custGeom>
            <a:avLst/>
            <a:gdLst/>
            <a:ahLst/>
            <a:cxnLst/>
            <a:rect l="l" t="t" r="r" b="b"/>
            <a:pathLst>
              <a:path w="13818648" h="8341438">
                <a:moveTo>
                  <a:pt x="0" y="0"/>
                </a:moveTo>
                <a:lnTo>
                  <a:pt x="13818648" y="0"/>
                </a:lnTo>
                <a:lnTo>
                  <a:pt x="13818648" y="8341438"/>
                </a:lnTo>
                <a:lnTo>
                  <a:pt x="0" y="83414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Freeform 5">
            <a:extLst>
              <a:ext uri="{FF2B5EF4-FFF2-40B4-BE49-F238E27FC236}">
                <a16:creationId xmlns:a16="http://schemas.microsoft.com/office/drawing/2014/main" id="{42CAEAA1-F6D4-0057-7BCC-827BF7D4B5E0}"/>
              </a:ext>
            </a:extLst>
          </p:cNvPr>
          <p:cNvSpPr/>
          <p:nvPr/>
        </p:nvSpPr>
        <p:spPr>
          <a:xfrm>
            <a:off x="13394336" y="6616100"/>
            <a:ext cx="7315200" cy="3670900"/>
          </a:xfrm>
          <a:custGeom>
            <a:avLst/>
            <a:gdLst/>
            <a:ahLst/>
            <a:cxnLst/>
            <a:rect l="l" t="t" r="r" b="b"/>
            <a:pathLst>
              <a:path w="7315200" h="3670900">
                <a:moveTo>
                  <a:pt x="0" y="0"/>
                </a:moveTo>
                <a:lnTo>
                  <a:pt x="7315200" y="0"/>
                </a:lnTo>
                <a:lnTo>
                  <a:pt x="7315200" y="3670900"/>
                </a:lnTo>
                <a:lnTo>
                  <a:pt x="0" y="36709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7" name="Freeform 7">
            <a:extLst>
              <a:ext uri="{FF2B5EF4-FFF2-40B4-BE49-F238E27FC236}">
                <a16:creationId xmlns:a16="http://schemas.microsoft.com/office/drawing/2014/main" id="{6C5E32CE-DA3D-44B8-1209-04064938CE0E}"/>
              </a:ext>
            </a:extLst>
          </p:cNvPr>
          <p:cNvSpPr/>
          <p:nvPr/>
        </p:nvSpPr>
        <p:spPr>
          <a:xfrm>
            <a:off x="16598096" y="1732506"/>
            <a:ext cx="907682" cy="1588939"/>
          </a:xfrm>
          <a:custGeom>
            <a:avLst/>
            <a:gdLst/>
            <a:ahLst/>
            <a:cxnLst/>
            <a:rect l="l" t="t" r="r" b="b"/>
            <a:pathLst>
              <a:path w="907682" h="1588939">
                <a:moveTo>
                  <a:pt x="0" y="0"/>
                </a:moveTo>
                <a:lnTo>
                  <a:pt x="907681" y="0"/>
                </a:lnTo>
                <a:lnTo>
                  <a:pt x="907681" y="1588939"/>
                </a:lnTo>
                <a:lnTo>
                  <a:pt x="0" y="158893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 name="Freeform 8">
            <a:extLst>
              <a:ext uri="{FF2B5EF4-FFF2-40B4-BE49-F238E27FC236}">
                <a16:creationId xmlns:a16="http://schemas.microsoft.com/office/drawing/2014/main" id="{7E9EE48A-7A1C-1FF4-D536-E422A24BAC45}"/>
              </a:ext>
            </a:extLst>
          </p:cNvPr>
          <p:cNvSpPr/>
          <p:nvPr/>
        </p:nvSpPr>
        <p:spPr>
          <a:xfrm>
            <a:off x="16053324" y="905659"/>
            <a:ext cx="1160673" cy="1160673"/>
          </a:xfrm>
          <a:custGeom>
            <a:avLst/>
            <a:gdLst/>
            <a:ahLst/>
            <a:cxnLst/>
            <a:rect l="l" t="t" r="r" b="b"/>
            <a:pathLst>
              <a:path w="1160673" h="1160673">
                <a:moveTo>
                  <a:pt x="0" y="0"/>
                </a:moveTo>
                <a:lnTo>
                  <a:pt x="1160673" y="0"/>
                </a:lnTo>
                <a:lnTo>
                  <a:pt x="1160673" y="1160673"/>
                </a:lnTo>
                <a:lnTo>
                  <a:pt x="0" y="116067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0" name="TextBox 10">
            <a:extLst>
              <a:ext uri="{FF2B5EF4-FFF2-40B4-BE49-F238E27FC236}">
                <a16:creationId xmlns:a16="http://schemas.microsoft.com/office/drawing/2014/main" id="{D5703B39-6C9B-B8BB-51AA-926DADC068EE}"/>
              </a:ext>
            </a:extLst>
          </p:cNvPr>
          <p:cNvSpPr txBox="1"/>
          <p:nvPr/>
        </p:nvSpPr>
        <p:spPr>
          <a:xfrm>
            <a:off x="1074003" y="419100"/>
            <a:ext cx="14488880" cy="9741128"/>
          </a:xfrm>
          <a:prstGeom prst="rect">
            <a:avLst/>
          </a:prstGeom>
        </p:spPr>
        <p:txBody>
          <a:bodyPr wrap="square" lIns="0" tIns="0" rIns="0" bIns="0" rtlCol="0" anchor="t">
            <a:spAutoFit/>
          </a:bodyPr>
          <a:lstStyle/>
          <a:p>
            <a:pPr marL="0" lvl="0" indent="0">
              <a:spcBef>
                <a:spcPts val="3000"/>
              </a:spcBef>
              <a:buNone/>
            </a:pPr>
            <a:r>
              <a:rPr lang="en-US" sz="3600" b="1" dirty="0">
                <a:solidFill>
                  <a:schemeClr val="accent1">
                    <a:lumMod val="50000"/>
                  </a:schemeClr>
                </a:solidFill>
                <a:latin typeface="Cambria" panose="02040503050406030204" pitchFamily="18" charset="0"/>
                <a:ea typeface="Cambria" panose="02040503050406030204" pitchFamily="18" charset="0"/>
              </a:rPr>
              <a:t>        </a:t>
            </a:r>
          </a:p>
          <a:p>
            <a:pPr marL="0" lvl="0" indent="0">
              <a:spcBef>
                <a:spcPts val="3000"/>
              </a:spcBef>
              <a:buNone/>
            </a:pPr>
            <a:endParaRPr lang="en-US" sz="4800" b="1" dirty="0">
              <a:solidFill>
                <a:schemeClr val="accent1">
                  <a:lumMod val="50000"/>
                </a:schemeClr>
              </a:solidFill>
              <a:latin typeface="Cambria" panose="02040503050406030204" pitchFamily="18" charset="0"/>
              <a:ea typeface="Cambria" panose="02040503050406030204" pitchFamily="18" charset="0"/>
            </a:endParaRPr>
          </a:p>
          <a:p>
            <a:r>
              <a:rPr lang="en-US" sz="3600" dirty="0">
                <a:latin typeface="Cambria" panose="02040503050406030204" pitchFamily="18" charset="0"/>
                <a:ea typeface="Cambria" panose="02040503050406030204" pitchFamily="18" charset="0"/>
              </a:rPr>
              <a:t>The user interface (UI), built with JavaFX, emphasized ease of use and accessibility:</a:t>
            </a:r>
          </a:p>
          <a:p>
            <a:pPr>
              <a:buFont typeface="Arial" panose="020B0604020202020204" pitchFamily="34" charset="0"/>
              <a:buChar char="•"/>
            </a:pPr>
            <a:r>
              <a:rPr lang="en-US" sz="3600" b="1" dirty="0">
                <a:latin typeface="Cambria" panose="02040503050406030204" pitchFamily="18" charset="0"/>
                <a:ea typeface="Cambria" panose="02040503050406030204" pitchFamily="18" charset="0"/>
              </a:rPr>
              <a:t>Key Features</a:t>
            </a:r>
            <a:r>
              <a:rPr lang="en-US" sz="3600" dirty="0">
                <a:latin typeface="Cambria" panose="02040503050406030204" pitchFamily="18" charset="0"/>
                <a:ea typeface="Cambria" panose="020405030504060302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Real-time Form Validation</a:t>
            </a:r>
            <a:r>
              <a:rPr kumimoji="0" lang="en-US" altLang="en-US" sz="2400" b="0" i="0" u="none" strike="noStrike" cap="none" normalizeH="0" baseline="0" dirty="0">
                <a:ln>
                  <a:noFill/>
                </a:ln>
                <a:solidFill>
                  <a:schemeClr val="tx1"/>
                </a:solidFill>
                <a:effectLst/>
                <a:latin typeface="Arial" panose="020B0604020202020204" pitchFamily="34" charset="0"/>
              </a:rPr>
              <a:t>: This ensures that users enter accurate information by immediately flagging any errors, reducing input mistakes.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Success/Error Messages</a:t>
            </a:r>
            <a:r>
              <a:rPr kumimoji="0" lang="en-US" altLang="en-US" sz="2400" b="0" i="0" u="none" strike="noStrike" cap="none" normalizeH="0" baseline="0" dirty="0">
                <a:ln>
                  <a:noFill/>
                </a:ln>
                <a:solidFill>
                  <a:schemeClr val="tx1"/>
                </a:solidFill>
                <a:effectLst/>
                <a:latin typeface="Arial" panose="020B0604020202020204" pitchFamily="34" charset="0"/>
              </a:rPr>
              <a:t>: Provides clear and immediate feedback to users, confirming successful actions or guiding them to correct issues.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Responsive Layout</a:t>
            </a:r>
            <a:r>
              <a:rPr kumimoji="0" lang="en-US" altLang="en-US" sz="2400" b="0" i="0" u="none" strike="noStrike" cap="none" normalizeH="0" baseline="0" dirty="0">
                <a:ln>
                  <a:noFill/>
                </a:ln>
                <a:solidFill>
                  <a:schemeClr val="tx1"/>
                </a:solidFill>
                <a:effectLst/>
                <a:latin typeface="Arial" panose="020B0604020202020204" pitchFamily="34" charset="0"/>
              </a:rPr>
              <a:t>: The UI dynamically adapts to different screen sizes,.</a:t>
            </a:r>
          </a:p>
          <a:p>
            <a:pPr marL="0" marR="0" lvl="0" indent="0" algn="l" defTabSz="914400" rtl="0" eaLnBrk="0" fontAlgn="base" latinLnBrk="0" hangingPunct="0">
              <a:lnSpc>
                <a:spcPct val="100000"/>
              </a:lnSpc>
              <a:spcBef>
                <a:spcPct val="0"/>
              </a:spcBef>
              <a:spcAft>
                <a:spcPct val="0"/>
              </a:spcAft>
              <a:buClrTx/>
              <a:buSzTx/>
              <a:buFontTx/>
              <a:buChar char="•"/>
              <a:tabLst/>
            </a:pPr>
            <a:r>
              <a:rPr lang="en-US" sz="3600" b="1" dirty="0">
                <a:latin typeface="Cambria" panose="02040503050406030204" pitchFamily="18" charset="0"/>
                <a:ea typeface="Cambria" panose="02040503050406030204" pitchFamily="18" charset="0"/>
              </a:rPr>
              <a:t>Implemented Use Cases</a:t>
            </a:r>
            <a:r>
              <a:rPr lang="en-US" sz="3600" dirty="0">
                <a:latin typeface="Cambria" panose="02040503050406030204" pitchFamily="18" charset="0"/>
                <a:ea typeface="Cambria" panose="02040503050406030204" pitchFamily="18" charset="0"/>
              </a:rPr>
              <a:t>:</a:t>
            </a:r>
          </a:p>
          <a:p>
            <a:pPr marL="742950" lvl="1" indent="-285750">
              <a:buFont typeface="Arial" panose="020B0604020202020204" pitchFamily="34" charset="0"/>
              <a:buChar char="•"/>
            </a:pPr>
            <a:r>
              <a:rPr lang="en-US" sz="3600" b="1" dirty="0">
                <a:latin typeface="Cambria" panose="02040503050406030204" pitchFamily="18" charset="0"/>
                <a:ea typeface="Cambria" panose="02040503050406030204" pitchFamily="18" charset="0"/>
              </a:rPr>
              <a:t>Transfer Registered vehicle</a:t>
            </a:r>
            <a:r>
              <a:rPr lang="en-US" sz="3600" dirty="0">
                <a:latin typeface="Cambria" panose="02040503050406030204" pitchFamily="18" charset="0"/>
                <a:ea typeface="Cambria" panose="02040503050406030204" pitchFamily="18" charset="0"/>
              </a:rPr>
              <a:t>: VIN and QID form with validation.</a:t>
            </a:r>
          </a:p>
          <a:p>
            <a:pPr marL="742950" lvl="1" indent="-285750">
              <a:buFont typeface="Arial" panose="020B0604020202020204" pitchFamily="34" charset="0"/>
              <a:buChar char="•"/>
            </a:pPr>
            <a:r>
              <a:rPr lang="en-GB" sz="3600" b="1" dirty="0"/>
              <a:t>Manage Accident Reports:</a:t>
            </a:r>
            <a:r>
              <a:rPr lang="en-GB" sz="3600" dirty="0"/>
              <a:t> Enables users to file and track accident reports for uploading details and optional payments via the </a:t>
            </a:r>
            <a:r>
              <a:rPr lang="en-GB" sz="3600" dirty="0" err="1"/>
              <a:t>qPay</a:t>
            </a:r>
            <a:r>
              <a:rPr lang="en-GB" sz="3600" dirty="0"/>
              <a:t> system. </a:t>
            </a:r>
          </a:p>
          <a:p>
            <a:pPr marL="742950" lvl="1" indent="-285750">
              <a:buFont typeface="Arial" panose="020B0604020202020204" pitchFamily="34" charset="0"/>
              <a:buChar char="•"/>
            </a:pPr>
            <a:r>
              <a:rPr lang="en-US" sz="3600" b="1" dirty="0">
                <a:latin typeface="Cambria" panose="02040503050406030204" pitchFamily="18" charset="0"/>
                <a:ea typeface="Cambria" panose="02040503050406030204" pitchFamily="18" charset="0"/>
              </a:rPr>
              <a:t>Technologies</a:t>
            </a:r>
            <a:r>
              <a:rPr lang="en-US" sz="3600" dirty="0">
                <a:latin typeface="Cambria" panose="02040503050406030204" pitchFamily="18" charset="0"/>
                <a:ea typeface="Cambria" panose="02040503050406030204" pitchFamily="18" charset="0"/>
              </a:rPr>
              <a:t>: JavaFX, FXML, and </a:t>
            </a:r>
            <a:r>
              <a:rPr lang="en-US" sz="3600" dirty="0" err="1">
                <a:latin typeface="Cambria" panose="02040503050406030204" pitchFamily="18" charset="0"/>
                <a:ea typeface="Cambria" panose="02040503050406030204" pitchFamily="18" charset="0"/>
              </a:rPr>
              <a:t>SceneBuilder</a:t>
            </a:r>
            <a:r>
              <a:rPr lang="en-US" sz="3600" dirty="0">
                <a:latin typeface="Cambria" panose="02040503050406030204" pitchFamily="18" charset="0"/>
                <a:ea typeface="Cambria" panose="02040503050406030204" pitchFamily="18" charset="0"/>
              </a:rPr>
              <a:t> for streamlined design.</a:t>
            </a:r>
          </a:p>
          <a:p>
            <a:pPr marL="0" lvl="0" indent="0">
              <a:buNone/>
            </a:pPr>
            <a:br>
              <a:rPr lang="en-US" sz="4000" dirty="0">
                <a:latin typeface="Cambria" panose="02040503050406030204" pitchFamily="18" charset="0"/>
                <a:ea typeface="Cambria" panose="02040503050406030204" pitchFamily="18" charset="0"/>
              </a:rPr>
            </a:br>
            <a:endParaRPr lang="en-US" sz="4000" dirty="0">
              <a:latin typeface="Cambria" panose="02040503050406030204" pitchFamily="18" charset="0"/>
              <a:ea typeface="Cambria" panose="02040503050406030204" pitchFamily="18" charset="0"/>
            </a:endParaRPr>
          </a:p>
        </p:txBody>
      </p:sp>
      <p:sp>
        <p:nvSpPr>
          <p:cNvPr id="9" name="Rectangle 3">
            <a:extLst>
              <a:ext uri="{FF2B5EF4-FFF2-40B4-BE49-F238E27FC236}">
                <a16:creationId xmlns:a16="http://schemas.microsoft.com/office/drawing/2014/main" id="{E9BCEC5B-31E6-6E61-C8C5-D28ADE3D757A}"/>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11" name="TextBox 10">
            <a:extLst>
              <a:ext uri="{FF2B5EF4-FFF2-40B4-BE49-F238E27FC236}">
                <a16:creationId xmlns:a16="http://schemas.microsoft.com/office/drawing/2014/main" id="{FBA37EDA-0E7A-8D8B-EFBC-CCE89E2B559B}"/>
              </a:ext>
            </a:extLst>
          </p:cNvPr>
          <p:cNvSpPr txBox="1"/>
          <p:nvPr/>
        </p:nvSpPr>
        <p:spPr>
          <a:xfrm>
            <a:off x="2286000" y="905659"/>
            <a:ext cx="9753600" cy="923330"/>
          </a:xfrm>
          <a:prstGeom prst="rect">
            <a:avLst/>
          </a:prstGeom>
          <a:noFill/>
        </p:spPr>
        <p:txBody>
          <a:bodyPr wrap="square" rtlCol="0">
            <a:spAutoFit/>
          </a:bodyPr>
          <a:lstStyle/>
          <a:p>
            <a:r>
              <a:rPr lang="en-US" sz="3600" b="1" dirty="0">
                <a:solidFill>
                  <a:schemeClr val="accent1">
                    <a:lumMod val="50000"/>
                  </a:schemeClr>
                </a:solidFill>
                <a:latin typeface="Cambria" panose="02040503050406030204" pitchFamily="18" charset="0"/>
                <a:ea typeface="Cambria" panose="02040503050406030204" pitchFamily="18" charset="0"/>
              </a:rPr>
              <a:t>User Interface Design and Implementation</a:t>
            </a:r>
          </a:p>
          <a:p>
            <a:endParaRPr lang="en-GB" dirty="0"/>
          </a:p>
        </p:txBody>
      </p:sp>
    </p:spTree>
    <p:extLst>
      <p:ext uri="{BB962C8B-B14F-4D97-AF65-F5344CB8AC3E}">
        <p14:creationId xmlns:p14="http://schemas.microsoft.com/office/powerpoint/2010/main" val="3275795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090B6-5475-7BCF-069F-DACF9B982ED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0BA5DDC-8FFA-CFDC-FFEC-A98BBE3B68B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a:extLst>
              <a:ext uri="{FF2B5EF4-FFF2-40B4-BE49-F238E27FC236}">
                <a16:creationId xmlns:a16="http://schemas.microsoft.com/office/drawing/2014/main" id="{63E27981-0C25-1499-95E8-2A82F079F685}"/>
              </a:ext>
            </a:extLst>
          </p:cNvPr>
          <p:cNvSpPr/>
          <p:nvPr/>
        </p:nvSpPr>
        <p:spPr>
          <a:xfrm>
            <a:off x="448364" y="419100"/>
            <a:ext cx="15604960" cy="9263843"/>
          </a:xfrm>
          <a:custGeom>
            <a:avLst/>
            <a:gdLst/>
            <a:ahLst/>
            <a:cxnLst/>
            <a:rect l="l" t="t" r="r" b="b"/>
            <a:pathLst>
              <a:path w="13818648" h="8341438">
                <a:moveTo>
                  <a:pt x="0" y="0"/>
                </a:moveTo>
                <a:lnTo>
                  <a:pt x="13818648" y="0"/>
                </a:lnTo>
                <a:lnTo>
                  <a:pt x="13818648" y="8341438"/>
                </a:lnTo>
                <a:lnTo>
                  <a:pt x="0" y="83414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Freeform 5">
            <a:extLst>
              <a:ext uri="{FF2B5EF4-FFF2-40B4-BE49-F238E27FC236}">
                <a16:creationId xmlns:a16="http://schemas.microsoft.com/office/drawing/2014/main" id="{DD60F573-2DFF-7108-DC0B-ABBD88642693}"/>
              </a:ext>
            </a:extLst>
          </p:cNvPr>
          <p:cNvSpPr/>
          <p:nvPr/>
        </p:nvSpPr>
        <p:spPr>
          <a:xfrm>
            <a:off x="13394336" y="6616100"/>
            <a:ext cx="7315200" cy="3670900"/>
          </a:xfrm>
          <a:custGeom>
            <a:avLst/>
            <a:gdLst/>
            <a:ahLst/>
            <a:cxnLst/>
            <a:rect l="l" t="t" r="r" b="b"/>
            <a:pathLst>
              <a:path w="7315200" h="3670900">
                <a:moveTo>
                  <a:pt x="0" y="0"/>
                </a:moveTo>
                <a:lnTo>
                  <a:pt x="7315200" y="0"/>
                </a:lnTo>
                <a:lnTo>
                  <a:pt x="7315200" y="3670900"/>
                </a:lnTo>
                <a:lnTo>
                  <a:pt x="0" y="36709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7" name="Freeform 7">
            <a:extLst>
              <a:ext uri="{FF2B5EF4-FFF2-40B4-BE49-F238E27FC236}">
                <a16:creationId xmlns:a16="http://schemas.microsoft.com/office/drawing/2014/main" id="{D70C939A-F8BF-E815-E99B-216116268EFF}"/>
              </a:ext>
            </a:extLst>
          </p:cNvPr>
          <p:cNvSpPr/>
          <p:nvPr/>
        </p:nvSpPr>
        <p:spPr>
          <a:xfrm>
            <a:off x="16598096" y="1732506"/>
            <a:ext cx="907682" cy="1588939"/>
          </a:xfrm>
          <a:custGeom>
            <a:avLst/>
            <a:gdLst/>
            <a:ahLst/>
            <a:cxnLst/>
            <a:rect l="l" t="t" r="r" b="b"/>
            <a:pathLst>
              <a:path w="907682" h="1588939">
                <a:moveTo>
                  <a:pt x="0" y="0"/>
                </a:moveTo>
                <a:lnTo>
                  <a:pt x="907681" y="0"/>
                </a:lnTo>
                <a:lnTo>
                  <a:pt x="907681" y="1588939"/>
                </a:lnTo>
                <a:lnTo>
                  <a:pt x="0" y="158893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 name="Freeform 8">
            <a:extLst>
              <a:ext uri="{FF2B5EF4-FFF2-40B4-BE49-F238E27FC236}">
                <a16:creationId xmlns:a16="http://schemas.microsoft.com/office/drawing/2014/main" id="{0978F1B7-0FA8-54CF-DE55-AC7AAE622DC5}"/>
              </a:ext>
            </a:extLst>
          </p:cNvPr>
          <p:cNvSpPr/>
          <p:nvPr/>
        </p:nvSpPr>
        <p:spPr>
          <a:xfrm>
            <a:off x="16053324" y="905659"/>
            <a:ext cx="1160673" cy="1160673"/>
          </a:xfrm>
          <a:custGeom>
            <a:avLst/>
            <a:gdLst/>
            <a:ahLst/>
            <a:cxnLst/>
            <a:rect l="l" t="t" r="r" b="b"/>
            <a:pathLst>
              <a:path w="1160673" h="1160673">
                <a:moveTo>
                  <a:pt x="0" y="0"/>
                </a:moveTo>
                <a:lnTo>
                  <a:pt x="1160673" y="0"/>
                </a:lnTo>
                <a:lnTo>
                  <a:pt x="1160673" y="1160673"/>
                </a:lnTo>
                <a:lnTo>
                  <a:pt x="0" y="116067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0" name="TextBox 10">
            <a:extLst>
              <a:ext uri="{FF2B5EF4-FFF2-40B4-BE49-F238E27FC236}">
                <a16:creationId xmlns:a16="http://schemas.microsoft.com/office/drawing/2014/main" id="{68E61E0D-6074-AF6D-43CA-E866A978CB43}"/>
              </a:ext>
            </a:extLst>
          </p:cNvPr>
          <p:cNvSpPr txBox="1"/>
          <p:nvPr/>
        </p:nvSpPr>
        <p:spPr>
          <a:xfrm>
            <a:off x="1209525" y="768894"/>
            <a:ext cx="13769796" cy="1692771"/>
          </a:xfrm>
          <a:prstGeom prst="rect">
            <a:avLst/>
          </a:prstGeom>
        </p:spPr>
        <p:txBody>
          <a:bodyPr wrap="square" lIns="0" tIns="0" rIns="0" bIns="0" rtlCol="0" anchor="t">
            <a:spAutoFit/>
          </a:bodyPr>
          <a:lstStyle/>
          <a:p>
            <a:pPr marL="0" lvl="0" indent="0">
              <a:spcBef>
                <a:spcPts val="3000"/>
              </a:spcBef>
              <a:buNone/>
            </a:pPr>
            <a:r>
              <a:rPr lang="en-US" sz="3600" b="1" dirty="0">
                <a:solidFill>
                  <a:schemeClr val="accent1">
                    <a:lumMod val="50000"/>
                  </a:schemeClr>
                </a:solidFill>
                <a:latin typeface="Cambria" panose="02040503050406030204" pitchFamily="18" charset="0"/>
                <a:ea typeface="Cambria" panose="02040503050406030204" pitchFamily="18" charset="0"/>
              </a:rPr>
              <a:t>       Testing for Core Functionalities</a:t>
            </a:r>
          </a:p>
          <a:p>
            <a:pPr marL="0" lvl="0" indent="0">
              <a:spcBef>
                <a:spcPts val="3000"/>
              </a:spcBef>
              <a:buNone/>
            </a:pPr>
            <a:endParaRPr lang="en-US" sz="2800" b="1" dirty="0">
              <a:latin typeface="Cambria" panose="02040503050406030204" pitchFamily="18" charset="0"/>
              <a:ea typeface="Cambria" panose="02040503050406030204" pitchFamily="18" charset="0"/>
            </a:endParaRPr>
          </a:p>
          <a:p>
            <a:pPr marL="0" lvl="0" indent="0">
              <a:buNone/>
            </a:pPr>
            <a:br>
              <a:rPr lang="en-US" sz="1050" dirty="0">
                <a:latin typeface="Cambria" panose="02040503050406030204" pitchFamily="18" charset="0"/>
                <a:ea typeface="Cambria" panose="02040503050406030204" pitchFamily="18" charset="0"/>
              </a:rPr>
            </a:br>
            <a:endParaRPr lang="en-US" sz="1050" dirty="0">
              <a:latin typeface="Cambria" panose="02040503050406030204" pitchFamily="18" charset="0"/>
              <a:ea typeface="Cambria" panose="02040503050406030204" pitchFamily="18" charset="0"/>
            </a:endParaRPr>
          </a:p>
        </p:txBody>
      </p:sp>
      <p:sp>
        <p:nvSpPr>
          <p:cNvPr id="9" name="Rectangle 3">
            <a:extLst>
              <a:ext uri="{FF2B5EF4-FFF2-40B4-BE49-F238E27FC236}">
                <a16:creationId xmlns:a16="http://schemas.microsoft.com/office/drawing/2014/main" id="{75F2E0BC-2704-D2E0-BC0C-D091C37E4D62}"/>
              </a:ext>
            </a:extLst>
          </p:cNvPr>
          <p:cNvSpPr>
            <a:spLocks noChangeArrowheads="1"/>
          </p:cNvSpPr>
          <p:nvPr/>
        </p:nvSpPr>
        <p:spPr bwMode="auto">
          <a:xfrm>
            <a:off x="782222" y="1731577"/>
            <a:ext cx="17057414" cy="8248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Unit Testing</a:t>
            </a:r>
            <a:r>
              <a:rPr kumimoji="0" lang="en-US" altLang="en-US" sz="3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ensured core functionalities worked as expected: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testFileReport</a:t>
            </a:r>
            <a:r>
              <a:rPr kumimoji="0" lang="en-US" altLang="en-US" sz="3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r>
              <a:rPr kumimoji="0" lang="en-US" altLang="en-US" sz="3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Verifies </a:t>
            </a:r>
            <a:r>
              <a:rPr kumimoji="0" lang="en-US" altLang="en-US" sz="32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fileReport</a:t>
            </a:r>
            <a:r>
              <a:rPr kumimoji="0" lang="en-US" altLang="en-US" sz="3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initializes reports with accurate data.</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Assertions</a:t>
            </a:r>
            <a:r>
              <a:rPr kumimoji="0" lang="en-US" altLang="en-US" sz="3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Non-null </a:t>
            </a:r>
            <a:r>
              <a:rPr kumimoji="0" lang="en-US" altLang="en-US" sz="32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reportID</a:t>
            </a:r>
            <a:r>
              <a:rPr kumimoji="0" lang="en-US" altLang="en-US" sz="3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correct location, and proper vehicle assignments.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testSendToInsurance</a:t>
            </a:r>
            <a:r>
              <a:rPr kumimoji="0" lang="en-US" altLang="en-US" sz="3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r>
              <a:rPr kumimoji="0" lang="en-US" altLang="en-US" sz="3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Verifies </a:t>
            </a:r>
            <a:r>
              <a:rPr kumimoji="0" lang="en-US" altLang="en-US" sz="32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sendToInsurance</a:t>
            </a:r>
            <a:r>
              <a:rPr kumimoji="0" lang="en-US" altLang="en-US" sz="3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sets acknowledgment correctly.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Assertions</a:t>
            </a:r>
            <a:r>
              <a:rPr kumimoji="0" lang="en-US" altLang="en-US" sz="3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Acknowledgment includes “Acknowledged by Insurance Company.”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testStoreReport</a:t>
            </a:r>
            <a:r>
              <a:rPr kumimoji="0" lang="en-US" altLang="en-US" sz="3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r>
              <a:rPr kumimoji="0" lang="en-US" altLang="en-US" sz="3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Verifies </a:t>
            </a:r>
            <a:r>
              <a:rPr kumimoji="0" lang="en-US" altLang="en-US" sz="32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storeReport</a:t>
            </a:r>
            <a:r>
              <a:rPr kumimoji="0" lang="en-US" altLang="en-US" sz="3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saves reports to a file.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Assertions</a:t>
            </a:r>
            <a:r>
              <a:rPr kumimoji="0" lang="en-US" altLang="en-US" sz="3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Existence of AccidentReports.txt after saving.</a:t>
            </a:r>
          </a:p>
          <a:p>
            <a:pPr marL="457200" marR="0" lvl="1" indent="0" defTabSz="914400" rtl="1" eaLnBrk="0" fontAlgn="base" latinLnBrk="0" hangingPunct="0">
              <a:lnSpc>
                <a:spcPct val="100000"/>
              </a:lnSpc>
              <a:spcBef>
                <a:spcPct val="0"/>
              </a:spcBef>
              <a:spcAft>
                <a:spcPct val="0"/>
              </a:spcAft>
              <a:buClrTx/>
              <a:buSzTx/>
              <a:tabLst/>
            </a:pPr>
            <a:endParaRPr lang="en-US" altLang="en-US" sz="3200" dirty="0">
              <a:latin typeface="Cambria" panose="02040503050406030204" pitchFamily="18" charset="0"/>
              <a:ea typeface="Cambria" panose="02040503050406030204" pitchFamily="18" charset="0"/>
            </a:endParaRPr>
          </a:p>
          <a:p>
            <a:pPr lvl="1" rtl="1" eaLnBrk="0" fontAlgn="base" hangingPunct="0">
              <a:spcBef>
                <a:spcPct val="0"/>
              </a:spcBef>
              <a:spcAft>
                <a:spcPct val="0"/>
              </a:spcAft>
            </a:pPr>
            <a:r>
              <a:rPr lang="en-US" sz="3200" b="1" dirty="0">
                <a:latin typeface="Cambria" panose="02040503050406030204" pitchFamily="18" charset="0"/>
                <a:ea typeface="Cambria" panose="02040503050406030204" pitchFamily="18" charset="0"/>
              </a:rPr>
              <a:t>Unit Testing</a:t>
            </a:r>
            <a:r>
              <a:rPr lang="en-US" sz="3200" dirty="0">
                <a:latin typeface="Cambria" panose="02040503050406030204" pitchFamily="18" charset="0"/>
                <a:ea typeface="Cambria" panose="02040503050406030204" pitchFamily="18" charset="0"/>
              </a:rPr>
              <a:t>: </a:t>
            </a:r>
          </a:p>
          <a:p>
            <a:pPr lvl="1" rtl="1" eaLnBrk="0" fontAlgn="base" hangingPunct="0">
              <a:spcBef>
                <a:spcPct val="0"/>
              </a:spcBef>
              <a:spcAft>
                <a:spcPct val="0"/>
              </a:spcAft>
            </a:pPr>
            <a:r>
              <a:rPr lang="en-US" sz="3200" dirty="0">
                <a:latin typeface="Cambria" panose="02040503050406030204" pitchFamily="18" charset="0"/>
                <a:ea typeface="Cambria" panose="02040503050406030204" pitchFamily="18" charset="0"/>
              </a:rPr>
              <a:t>All tests passed, verifying core functionalities like creating and storing reports and communicating with insurance companies.</a:t>
            </a:r>
          </a:p>
          <a:p>
            <a:pPr marL="457200" marR="0" lvl="1" indent="0" defTabSz="914400" rtl="1" eaLnBrk="0" fontAlgn="base" latinLnBrk="0" hangingPunct="0">
              <a:lnSpc>
                <a:spcPct val="100000"/>
              </a:lnSpc>
              <a:spcBef>
                <a:spcPct val="0"/>
              </a:spcBef>
              <a:spcAft>
                <a:spcPct val="0"/>
              </a:spcAft>
              <a:buClrTx/>
              <a:buSzTx/>
              <a:tabLst/>
            </a:pPr>
            <a:endParaRPr lang="en-US" altLang="en-US" sz="3200" dirty="0">
              <a:latin typeface="Cambria" panose="02040503050406030204" pitchFamily="18" charset="0"/>
              <a:ea typeface="Cambria" panose="02040503050406030204" pitchFamily="18" charset="0"/>
            </a:endParaRP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7366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B820B-5ADF-3431-0C8B-F494FE3C801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87D29B7-3505-48DD-C953-883DA77BC72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a:extLst>
              <a:ext uri="{FF2B5EF4-FFF2-40B4-BE49-F238E27FC236}">
                <a16:creationId xmlns:a16="http://schemas.microsoft.com/office/drawing/2014/main" id="{F818EF56-7A48-C7DB-B036-DA1737889F6D}"/>
              </a:ext>
            </a:extLst>
          </p:cNvPr>
          <p:cNvSpPr/>
          <p:nvPr/>
        </p:nvSpPr>
        <p:spPr>
          <a:xfrm>
            <a:off x="448364" y="419100"/>
            <a:ext cx="15604960" cy="9263843"/>
          </a:xfrm>
          <a:custGeom>
            <a:avLst/>
            <a:gdLst/>
            <a:ahLst/>
            <a:cxnLst/>
            <a:rect l="l" t="t" r="r" b="b"/>
            <a:pathLst>
              <a:path w="13818648" h="8341438">
                <a:moveTo>
                  <a:pt x="0" y="0"/>
                </a:moveTo>
                <a:lnTo>
                  <a:pt x="13818648" y="0"/>
                </a:lnTo>
                <a:lnTo>
                  <a:pt x="13818648" y="8341438"/>
                </a:lnTo>
                <a:lnTo>
                  <a:pt x="0" y="83414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Freeform 5">
            <a:extLst>
              <a:ext uri="{FF2B5EF4-FFF2-40B4-BE49-F238E27FC236}">
                <a16:creationId xmlns:a16="http://schemas.microsoft.com/office/drawing/2014/main" id="{5305D998-B661-92E1-B762-A963004D67D1}"/>
              </a:ext>
            </a:extLst>
          </p:cNvPr>
          <p:cNvSpPr/>
          <p:nvPr/>
        </p:nvSpPr>
        <p:spPr>
          <a:xfrm>
            <a:off x="13394336" y="6616100"/>
            <a:ext cx="7315200" cy="3670900"/>
          </a:xfrm>
          <a:custGeom>
            <a:avLst/>
            <a:gdLst/>
            <a:ahLst/>
            <a:cxnLst/>
            <a:rect l="l" t="t" r="r" b="b"/>
            <a:pathLst>
              <a:path w="7315200" h="3670900">
                <a:moveTo>
                  <a:pt x="0" y="0"/>
                </a:moveTo>
                <a:lnTo>
                  <a:pt x="7315200" y="0"/>
                </a:lnTo>
                <a:lnTo>
                  <a:pt x="7315200" y="3670900"/>
                </a:lnTo>
                <a:lnTo>
                  <a:pt x="0" y="36709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7" name="Freeform 7">
            <a:extLst>
              <a:ext uri="{FF2B5EF4-FFF2-40B4-BE49-F238E27FC236}">
                <a16:creationId xmlns:a16="http://schemas.microsoft.com/office/drawing/2014/main" id="{42D7758D-17F8-5D16-5EDF-1AC3E3FF7C38}"/>
              </a:ext>
            </a:extLst>
          </p:cNvPr>
          <p:cNvSpPr/>
          <p:nvPr/>
        </p:nvSpPr>
        <p:spPr>
          <a:xfrm>
            <a:off x="16598096" y="1732506"/>
            <a:ext cx="907682" cy="1588939"/>
          </a:xfrm>
          <a:custGeom>
            <a:avLst/>
            <a:gdLst/>
            <a:ahLst/>
            <a:cxnLst/>
            <a:rect l="l" t="t" r="r" b="b"/>
            <a:pathLst>
              <a:path w="907682" h="1588939">
                <a:moveTo>
                  <a:pt x="0" y="0"/>
                </a:moveTo>
                <a:lnTo>
                  <a:pt x="907681" y="0"/>
                </a:lnTo>
                <a:lnTo>
                  <a:pt x="907681" y="1588939"/>
                </a:lnTo>
                <a:lnTo>
                  <a:pt x="0" y="158893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 name="Freeform 8">
            <a:extLst>
              <a:ext uri="{FF2B5EF4-FFF2-40B4-BE49-F238E27FC236}">
                <a16:creationId xmlns:a16="http://schemas.microsoft.com/office/drawing/2014/main" id="{02BD70C2-9E69-5930-5B27-83416F79EC0B}"/>
              </a:ext>
            </a:extLst>
          </p:cNvPr>
          <p:cNvSpPr/>
          <p:nvPr/>
        </p:nvSpPr>
        <p:spPr>
          <a:xfrm>
            <a:off x="16053324" y="905659"/>
            <a:ext cx="1160673" cy="1160673"/>
          </a:xfrm>
          <a:custGeom>
            <a:avLst/>
            <a:gdLst/>
            <a:ahLst/>
            <a:cxnLst/>
            <a:rect l="l" t="t" r="r" b="b"/>
            <a:pathLst>
              <a:path w="1160673" h="1160673">
                <a:moveTo>
                  <a:pt x="0" y="0"/>
                </a:moveTo>
                <a:lnTo>
                  <a:pt x="1160673" y="0"/>
                </a:lnTo>
                <a:lnTo>
                  <a:pt x="1160673" y="1160673"/>
                </a:lnTo>
                <a:lnTo>
                  <a:pt x="0" y="116067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0" name="TextBox 10">
            <a:extLst>
              <a:ext uri="{FF2B5EF4-FFF2-40B4-BE49-F238E27FC236}">
                <a16:creationId xmlns:a16="http://schemas.microsoft.com/office/drawing/2014/main" id="{EAB129DA-49DF-2D4E-0119-7163E789B29A}"/>
              </a:ext>
            </a:extLst>
          </p:cNvPr>
          <p:cNvSpPr txBox="1"/>
          <p:nvPr/>
        </p:nvSpPr>
        <p:spPr>
          <a:xfrm>
            <a:off x="1084889" y="819093"/>
            <a:ext cx="13769796" cy="7278916"/>
          </a:xfrm>
          <a:prstGeom prst="rect">
            <a:avLst/>
          </a:prstGeom>
        </p:spPr>
        <p:txBody>
          <a:bodyPr wrap="square" lIns="0" tIns="0" rIns="0" bIns="0" rtlCol="0" anchor="t">
            <a:spAutoFit/>
          </a:bodyPr>
          <a:lstStyle/>
          <a:p>
            <a:pPr marL="0" lvl="0" indent="0">
              <a:buNone/>
            </a:pPr>
            <a:r>
              <a:rPr lang="en-US" sz="3600" b="1" dirty="0">
                <a:solidFill>
                  <a:schemeClr val="accent1">
                    <a:lumMod val="50000"/>
                  </a:schemeClr>
                </a:solidFill>
                <a:latin typeface="Cambria" panose="02040503050406030204" pitchFamily="18" charset="0"/>
                <a:ea typeface="Cambria" panose="02040503050406030204" pitchFamily="18" charset="0"/>
              </a:rPr>
              <a:t>       Integration Test:</a:t>
            </a:r>
          </a:p>
          <a:p>
            <a:br>
              <a:rPr lang="en-US" sz="3200" dirty="0">
                <a:latin typeface="Cambria" panose="02040503050406030204" pitchFamily="18" charset="0"/>
                <a:ea typeface="Cambria" panose="02040503050406030204" pitchFamily="18" charset="0"/>
              </a:rPr>
            </a:br>
            <a:r>
              <a:rPr lang="en-US" sz="3200" b="1" dirty="0">
                <a:latin typeface="Cambria" panose="02040503050406030204" pitchFamily="18" charset="0"/>
                <a:ea typeface="Cambria" panose="02040503050406030204" pitchFamily="18" charset="0"/>
              </a:rPr>
              <a:t>Integration Testing for Accident Reporting</a:t>
            </a:r>
            <a:r>
              <a:rPr lang="en-US" sz="3200" dirty="0">
                <a:latin typeface="Cambria" panose="02040503050406030204" pitchFamily="18" charset="0"/>
                <a:ea typeface="Cambria" panose="02040503050406030204" pitchFamily="18" charset="0"/>
              </a:rPr>
              <a:t>:</a:t>
            </a:r>
          </a:p>
          <a:p>
            <a:pPr>
              <a:buFont typeface="Arial" panose="020B0604020202020204" pitchFamily="34" charset="0"/>
              <a:buChar char="•"/>
            </a:pPr>
            <a:r>
              <a:rPr lang="en-US" sz="3200" b="1" dirty="0">
                <a:latin typeface="Cambria" panose="02040503050406030204" pitchFamily="18" charset="0"/>
                <a:ea typeface="Cambria" panose="02040503050406030204" pitchFamily="18" charset="0"/>
              </a:rPr>
              <a:t>Test Case: </a:t>
            </a:r>
            <a:r>
              <a:rPr lang="en-US" sz="3200" b="1" dirty="0" err="1">
                <a:latin typeface="Cambria" panose="02040503050406030204" pitchFamily="18" charset="0"/>
                <a:ea typeface="Cambria" panose="02040503050406030204" pitchFamily="18" charset="0"/>
              </a:rPr>
              <a:t>testManageAccidentIntegration</a:t>
            </a:r>
            <a:r>
              <a:rPr lang="en-US" sz="3200" b="1" dirty="0">
                <a:latin typeface="Cambria" panose="02040503050406030204" pitchFamily="18" charset="0"/>
                <a:ea typeface="Cambria" panose="02040503050406030204" pitchFamily="18" charset="0"/>
              </a:rPr>
              <a:t>()</a:t>
            </a:r>
            <a:endParaRPr lang="en-US" sz="3200" dirty="0">
              <a:latin typeface="Cambria" panose="02040503050406030204" pitchFamily="18" charset="0"/>
              <a:ea typeface="Cambria" panose="02040503050406030204" pitchFamily="18" charset="0"/>
            </a:endParaRPr>
          </a:p>
          <a:p>
            <a:pPr marL="742950" lvl="1" indent="-285750">
              <a:buFont typeface="Arial" panose="020B0604020202020204" pitchFamily="34" charset="0"/>
              <a:buChar char="•"/>
            </a:pPr>
            <a:r>
              <a:rPr lang="en-US" sz="3200" b="1" dirty="0">
                <a:latin typeface="Cambria" panose="02040503050406030204" pitchFamily="18" charset="0"/>
                <a:ea typeface="Cambria" panose="02040503050406030204" pitchFamily="18" charset="0"/>
              </a:rPr>
              <a:t>Objective</a:t>
            </a:r>
            <a:r>
              <a:rPr lang="en-US" sz="3200" dirty="0">
                <a:latin typeface="Cambria" panose="02040503050406030204" pitchFamily="18" charset="0"/>
                <a:ea typeface="Cambria" panose="02040503050406030204" pitchFamily="18" charset="0"/>
              </a:rPr>
              <a:t>: Simulate a real-world accident scenario to ensure seamless component interaction.</a:t>
            </a:r>
          </a:p>
          <a:p>
            <a:pPr marL="742950" lvl="1" indent="-285750">
              <a:buFont typeface="Arial" panose="020B0604020202020204" pitchFamily="34" charset="0"/>
              <a:buChar char="•"/>
            </a:pPr>
            <a:r>
              <a:rPr lang="en-US" sz="3200" b="1" dirty="0">
                <a:latin typeface="Cambria" panose="02040503050406030204" pitchFamily="18" charset="0"/>
                <a:ea typeface="Cambria" panose="02040503050406030204" pitchFamily="18" charset="0"/>
              </a:rPr>
              <a:t>Process</a:t>
            </a:r>
            <a:r>
              <a:rPr lang="en-US" sz="3200" dirty="0">
                <a:latin typeface="Cambria" panose="02040503050406030204" pitchFamily="18" charset="0"/>
                <a:ea typeface="Cambria" panose="02040503050406030204" pitchFamily="18" charset="0"/>
              </a:rPr>
              <a:t>:</a:t>
            </a:r>
          </a:p>
          <a:p>
            <a:pPr marL="1143000" lvl="2" indent="-228600">
              <a:buFont typeface="Arial" panose="020B0604020202020204" pitchFamily="34" charset="0"/>
              <a:buChar char="•"/>
            </a:pPr>
            <a:r>
              <a:rPr lang="en-US" sz="3200" dirty="0">
                <a:latin typeface="Cambria" panose="02040503050406030204" pitchFamily="18" charset="0"/>
                <a:ea typeface="Cambria" panose="02040503050406030204" pitchFamily="18" charset="0"/>
              </a:rPr>
              <a:t>Initialize vehicles.</a:t>
            </a:r>
          </a:p>
          <a:p>
            <a:pPr marL="1143000" lvl="2" indent="-228600">
              <a:buFont typeface="Arial" panose="020B0604020202020204" pitchFamily="34" charset="0"/>
              <a:buChar char="•"/>
            </a:pPr>
            <a:r>
              <a:rPr lang="en-US" sz="3200" dirty="0">
                <a:latin typeface="Cambria" panose="02040503050406030204" pitchFamily="18" charset="0"/>
                <a:ea typeface="Cambria" panose="02040503050406030204" pitchFamily="18" charset="0"/>
              </a:rPr>
              <a:t>Create, acknowledge, and store an accident report.</a:t>
            </a:r>
          </a:p>
          <a:p>
            <a:pPr marL="742950" lvl="1" indent="-285750">
              <a:buFont typeface="Arial" panose="020B0604020202020204" pitchFamily="34" charset="0"/>
              <a:buChar char="•"/>
            </a:pPr>
            <a:r>
              <a:rPr lang="en-US" sz="3200" b="1" dirty="0">
                <a:latin typeface="Cambria" panose="02040503050406030204" pitchFamily="18" charset="0"/>
                <a:ea typeface="Cambria" panose="02040503050406030204" pitchFamily="18" charset="0"/>
              </a:rPr>
              <a:t>Assertions</a:t>
            </a:r>
            <a:r>
              <a:rPr lang="en-US" sz="3200" dirty="0">
                <a:latin typeface="Cambria" panose="02040503050406030204" pitchFamily="18" charset="0"/>
                <a:ea typeface="Cambria" panose="02040503050406030204" pitchFamily="18" charset="0"/>
              </a:rPr>
              <a:t>:</a:t>
            </a:r>
          </a:p>
          <a:p>
            <a:pPr marL="1143000" lvl="2" indent="-228600">
              <a:buFont typeface="Arial" panose="020B0604020202020204" pitchFamily="34" charset="0"/>
              <a:buChar char="•"/>
            </a:pPr>
            <a:r>
              <a:rPr lang="en-US" sz="3200" dirty="0">
                <a:latin typeface="Cambria" panose="02040503050406030204" pitchFamily="18" charset="0"/>
                <a:ea typeface="Cambria" panose="02040503050406030204" pitchFamily="18" charset="0"/>
              </a:rPr>
              <a:t>Report ID is generated.</a:t>
            </a:r>
          </a:p>
          <a:p>
            <a:pPr marL="1143000" lvl="2" indent="-228600">
              <a:buFont typeface="Arial" panose="020B0604020202020204" pitchFamily="34" charset="0"/>
              <a:buChar char="•"/>
            </a:pPr>
            <a:r>
              <a:rPr lang="en-US" sz="3200" dirty="0">
                <a:latin typeface="Cambria" panose="02040503050406030204" pitchFamily="18" charset="0"/>
                <a:ea typeface="Cambria" panose="02040503050406030204" pitchFamily="18" charset="0"/>
              </a:rPr>
              <a:t>Accident location and vehicle details are captured.</a:t>
            </a:r>
          </a:p>
          <a:p>
            <a:pPr marL="1143000" lvl="2" indent="-228600">
              <a:buFont typeface="Arial" panose="020B0604020202020204" pitchFamily="34" charset="0"/>
              <a:buChar char="•"/>
            </a:pPr>
            <a:r>
              <a:rPr lang="en-US" sz="3200" dirty="0">
                <a:latin typeface="Cambria" panose="02040503050406030204" pitchFamily="18" charset="0"/>
                <a:ea typeface="Cambria" panose="02040503050406030204" pitchFamily="18" charset="0"/>
              </a:rPr>
              <a:t>Report is acknowledged and stored.</a:t>
            </a:r>
          </a:p>
          <a:p>
            <a:pPr>
              <a:buFont typeface="Arial" panose="020B0604020202020204" pitchFamily="34" charset="0"/>
              <a:buChar char="•"/>
            </a:pPr>
            <a:r>
              <a:rPr lang="en-US" sz="3200" b="1" dirty="0">
                <a:latin typeface="Cambria" panose="02040503050406030204" pitchFamily="18" charset="0"/>
                <a:ea typeface="Cambria" panose="02040503050406030204" pitchFamily="18" charset="0"/>
              </a:rPr>
              <a:t>Results</a:t>
            </a:r>
            <a:r>
              <a:rPr lang="en-US" sz="3200" dirty="0">
                <a:latin typeface="Cambria" panose="02040503050406030204" pitchFamily="18" charset="0"/>
                <a:ea typeface="Cambria" panose="02040503050406030204" pitchFamily="18" charset="0"/>
              </a:rPr>
              <a:t>: Passed, confirming cohesive system functionality.</a:t>
            </a:r>
          </a:p>
          <a:p>
            <a:pPr marL="0" lvl="0" indent="0">
              <a:buNone/>
            </a:pPr>
            <a:br>
              <a:rPr lang="en-US" sz="1050" dirty="0">
                <a:latin typeface="Cambria" panose="02040503050406030204" pitchFamily="18" charset="0"/>
                <a:ea typeface="Cambria" panose="02040503050406030204" pitchFamily="18" charset="0"/>
              </a:rPr>
            </a:br>
            <a:endParaRPr lang="en-US" sz="105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86503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294D9-AAF5-A5C0-FB1A-DE210CE6FC1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EC8F335-60D4-21B5-97EA-4EEBC81E972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a:extLst>
              <a:ext uri="{FF2B5EF4-FFF2-40B4-BE49-F238E27FC236}">
                <a16:creationId xmlns:a16="http://schemas.microsoft.com/office/drawing/2014/main" id="{C2BA321D-D1BF-63D5-6771-4FA238DE8D53}"/>
              </a:ext>
            </a:extLst>
          </p:cNvPr>
          <p:cNvSpPr/>
          <p:nvPr/>
        </p:nvSpPr>
        <p:spPr>
          <a:xfrm>
            <a:off x="448364" y="419100"/>
            <a:ext cx="15604960" cy="9263843"/>
          </a:xfrm>
          <a:custGeom>
            <a:avLst/>
            <a:gdLst/>
            <a:ahLst/>
            <a:cxnLst/>
            <a:rect l="l" t="t" r="r" b="b"/>
            <a:pathLst>
              <a:path w="13818648" h="8341438">
                <a:moveTo>
                  <a:pt x="0" y="0"/>
                </a:moveTo>
                <a:lnTo>
                  <a:pt x="13818648" y="0"/>
                </a:lnTo>
                <a:lnTo>
                  <a:pt x="13818648" y="8341438"/>
                </a:lnTo>
                <a:lnTo>
                  <a:pt x="0" y="83414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Freeform 5">
            <a:extLst>
              <a:ext uri="{FF2B5EF4-FFF2-40B4-BE49-F238E27FC236}">
                <a16:creationId xmlns:a16="http://schemas.microsoft.com/office/drawing/2014/main" id="{9F876A4B-5F9F-0D3B-93D1-164E04A8DF25}"/>
              </a:ext>
            </a:extLst>
          </p:cNvPr>
          <p:cNvSpPr/>
          <p:nvPr/>
        </p:nvSpPr>
        <p:spPr>
          <a:xfrm>
            <a:off x="13394336" y="6616100"/>
            <a:ext cx="7315200" cy="3670900"/>
          </a:xfrm>
          <a:custGeom>
            <a:avLst/>
            <a:gdLst/>
            <a:ahLst/>
            <a:cxnLst/>
            <a:rect l="l" t="t" r="r" b="b"/>
            <a:pathLst>
              <a:path w="7315200" h="3670900">
                <a:moveTo>
                  <a:pt x="0" y="0"/>
                </a:moveTo>
                <a:lnTo>
                  <a:pt x="7315200" y="0"/>
                </a:lnTo>
                <a:lnTo>
                  <a:pt x="7315200" y="3670900"/>
                </a:lnTo>
                <a:lnTo>
                  <a:pt x="0" y="36709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7" name="Freeform 7">
            <a:extLst>
              <a:ext uri="{FF2B5EF4-FFF2-40B4-BE49-F238E27FC236}">
                <a16:creationId xmlns:a16="http://schemas.microsoft.com/office/drawing/2014/main" id="{74918AA4-9E46-538B-2A49-0A2D46A2ADD2}"/>
              </a:ext>
            </a:extLst>
          </p:cNvPr>
          <p:cNvSpPr/>
          <p:nvPr/>
        </p:nvSpPr>
        <p:spPr>
          <a:xfrm>
            <a:off x="16598096" y="1732506"/>
            <a:ext cx="907682" cy="1588939"/>
          </a:xfrm>
          <a:custGeom>
            <a:avLst/>
            <a:gdLst/>
            <a:ahLst/>
            <a:cxnLst/>
            <a:rect l="l" t="t" r="r" b="b"/>
            <a:pathLst>
              <a:path w="907682" h="1588939">
                <a:moveTo>
                  <a:pt x="0" y="0"/>
                </a:moveTo>
                <a:lnTo>
                  <a:pt x="907681" y="0"/>
                </a:lnTo>
                <a:lnTo>
                  <a:pt x="907681" y="1588939"/>
                </a:lnTo>
                <a:lnTo>
                  <a:pt x="0" y="158893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 name="Freeform 8">
            <a:extLst>
              <a:ext uri="{FF2B5EF4-FFF2-40B4-BE49-F238E27FC236}">
                <a16:creationId xmlns:a16="http://schemas.microsoft.com/office/drawing/2014/main" id="{0E9322BF-AB2B-63D7-0D4B-3F3B7E056B2F}"/>
              </a:ext>
            </a:extLst>
          </p:cNvPr>
          <p:cNvSpPr/>
          <p:nvPr/>
        </p:nvSpPr>
        <p:spPr>
          <a:xfrm>
            <a:off x="16053324" y="905659"/>
            <a:ext cx="1160673" cy="1160673"/>
          </a:xfrm>
          <a:custGeom>
            <a:avLst/>
            <a:gdLst/>
            <a:ahLst/>
            <a:cxnLst/>
            <a:rect l="l" t="t" r="r" b="b"/>
            <a:pathLst>
              <a:path w="1160673" h="1160673">
                <a:moveTo>
                  <a:pt x="0" y="0"/>
                </a:moveTo>
                <a:lnTo>
                  <a:pt x="1160673" y="0"/>
                </a:lnTo>
                <a:lnTo>
                  <a:pt x="1160673" y="1160673"/>
                </a:lnTo>
                <a:lnTo>
                  <a:pt x="0" y="116067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0" name="TextBox 10">
            <a:extLst>
              <a:ext uri="{FF2B5EF4-FFF2-40B4-BE49-F238E27FC236}">
                <a16:creationId xmlns:a16="http://schemas.microsoft.com/office/drawing/2014/main" id="{5D523035-5A94-73D7-6827-13AF0C2BFF44}"/>
              </a:ext>
            </a:extLst>
          </p:cNvPr>
          <p:cNvSpPr txBox="1"/>
          <p:nvPr/>
        </p:nvSpPr>
        <p:spPr>
          <a:xfrm>
            <a:off x="804876" y="793024"/>
            <a:ext cx="14488880" cy="8402300"/>
          </a:xfrm>
          <a:prstGeom prst="rect">
            <a:avLst/>
          </a:prstGeom>
        </p:spPr>
        <p:txBody>
          <a:bodyPr wrap="square" lIns="0" tIns="0" rIns="0" bIns="0" rtlCol="0" anchor="t">
            <a:spAutoFit/>
          </a:bodyPr>
          <a:lstStyle/>
          <a:p>
            <a:pPr marL="0" lvl="0" indent="0">
              <a:spcBef>
                <a:spcPts val="3000"/>
              </a:spcBef>
              <a:buNone/>
            </a:pPr>
            <a:r>
              <a:rPr lang="en-US" sz="3200" b="1" dirty="0">
                <a:latin typeface="Cambria" panose="02040503050406030204" pitchFamily="18" charset="0"/>
                <a:ea typeface="Cambria" panose="02040503050406030204" pitchFamily="18" charset="0"/>
              </a:rPr>
              <a:t>            </a:t>
            </a:r>
            <a:r>
              <a:rPr lang="en-US" sz="3600" b="1" dirty="0">
                <a:solidFill>
                  <a:schemeClr val="accent1">
                    <a:lumMod val="50000"/>
                  </a:schemeClr>
                </a:solidFill>
                <a:latin typeface="Cambria" panose="02040503050406030204" pitchFamily="18" charset="0"/>
                <a:ea typeface="Cambria" panose="02040503050406030204" pitchFamily="18" charset="0"/>
              </a:rPr>
              <a:t>Non-Functional Requirement Testing</a:t>
            </a:r>
          </a:p>
          <a:p>
            <a:pPr marL="0" lvl="0" indent="0">
              <a:spcBef>
                <a:spcPts val="3000"/>
              </a:spcBef>
              <a:buNone/>
            </a:pPr>
            <a:endParaRPr lang="en-US" sz="3200" b="1" dirty="0">
              <a:latin typeface="Cambria" panose="02040503050406030204" pitchFamily="18" charset="0"/>
              <a:ea typeface="Cambria" panose="02040503050406030204" pitchFamily="18" charset="0"/>
            </a:endParaRPr>
          </a:p>
          <a:p>
            <a:r>
              <a:rPr lang="en-US" sz="3600" b="1" dirty="0">
                <a:latin typeface="Cambria" panose="02040503050406030204" pitchFamily="18" charset="0"/>
                <a:ea typeface="Cambria" panose="02040503050406030204" pitchFamily="18" charset="0"/>
              </a:rPr>
              <a:t>Availability Test</a:t>
            </a:r>
            <a:r>
              <a:rPr lang="en-US" sz="3600" dirty="0">
                <a:latin typeface="Cambria" panose="02040503050406030204" pitchFamily="18" charset="0"/>
                <a:ea typeface="Cambria" panose="02040503050406030204" pitchFamily="18" charset="0"/>
              </a:rPr>
              <a:t>:</a:t>
            </a:r>
          </a:p>
          <a:p>
            <a:pPr>
              <a:buFont typeface="Arial" panose="020B0604020202020204" pitchFamily="34" charset="0"/>
              <a:buChar char="•"/>
            </a:pPr>
            <a:r>
              <a:rPr lang="en-US" sz="3600" b="1" dirty="0">
                <a:latin typeface="Cambria" panose="02040503050406030204" pitchFamily="18" charset="0"/>
                <a:ea typeface="Cambria" panose="02040503050406030204" pitchFamily="18" charset="0"/>
              </a:rPr>
              <a:t>Objective</a:t>
            </a:r>
            <a:r>
              <a:rPr lang="en-US" sz="3600" dirty="0">
                <a:latin typeface="Cambria" panose="02040503050406030204" pitchFamily="18" charset="0"/>
                <a:ea typeface="Cambria" panose="02040503050406030204" pitchFamily="18" charset="0"/>
              </a:rPr>
              <a:t>: Assess system efficiency under load.</a:t>
            </a:r>
          </a:p>
          <a:p>
            <a:pPr>
              <a:buFont typeface="Arial" panose="020B0604020202020204" pitchFamily="34" charset="0"/>
              <a:buChar char="•"/>
            </a:pPr>
            <a:r>
              <a:rPr lang="en-US" sz="3600" b="1" dirty="0">
                <a:latin typeface="Cambria" panose="02040503050406030204" pitchFamily="18" charset="0"/>
                <a:ea typeface="Cambria" panose="02040503050406030204" pitchFamily="18" charset="0"/>
              </a:rPr>
              <a:t>Method</a:t>
            </a:r>
            <a:r>
              <a:rPr lang="en-US" sz="3600" dirty="0">
                <a:latin typeface="Cambria" panose="02040503050406030204" pitchFamily="18" charset="0"/>
                <a:ea typeface="Cambria" panose="02040503050406030204" pitchFamily="18" charset="0"/>
              </a:rPr>
              <a:t>: Simulated heavy calculations (e.g., summing numbers up to 100).</a:t>
            </a:r>
          </a:p>
          <a:p>
            <a:pPr>
              <a:buFont typeface="Arial" panose="020B0604020202020204" pitchFamily="34" charset="0"/>
              <a:buChar char="•"/>
            </a:pPr>
            <a:r>
              <a:rPr lang="en-US" sz="3600" b="1" dirty="0">
                <a:latin typeface="Cambria" panose="02040503050406030204" pitchFamily="18" charset="0"/>
                <a:ea typeface="Cambria" panose="02040503050406030204" pitchFamily="18" charset="0"/>
              </a:rPr>
              <a:t>Result</a:t>
            </a:r>
            <a:r>
              <a:rPr lang="en-US" sz="3600" dirty="0">
                <a:latin typeface="Cambria" panose="02040503050406030204" pitchFamily="18" charset="0"/>
                <a:ea typeface="Cambria" panose="02040503050406030204" pitchFamily="18" charset="0"/>
              </a:rPr>
              <a:t>: The system performed without delays, confirming availability under normal usage.</a:t>
            </a:r>
          </a:p>
          <a:p>
            <a:r>
              <a:rPr lang="en-US" sz="3600" b="1" dirty="0">
                <a:latin typeface="Cambria" panose="02040503050406030204" pitchFamily="18" charset="0"/>
                <a:ea typeface="Cambria" panose="02040503050406030204" pitchFamily="18" charset="0"/>
              </a:rPr>
              <a:t>Usability Test</a:t>
            </a:r>
            <a:r>
              <a:rPr lang="en-US" sz="3600" dirty="0">
                <a:latin typeface="Cambria" panose="02040503050406030204" pitchFamily="18" charset="0"/>
                <a:ea typeface="Cambria" panose="02040503050406030204" pitchFamily="18" charset="0"/>
              </a:rPr>
              <a:t>:</a:t>
            </a:r>
          </a:p>
          <a:p>
            <a:pPr>
              <a:buFont typeface="Arial" panose="020B0604020202020204" pitchFamily="34" charset="0"/>
              <a:buChar char="•"/>
            </a:pPr>
            <a:r>
              <a:rPr lang="en-US" sz="3600" b="1" dirty="0">
                <a:latin typeface="Cambria" panose="02040503050406030204" pitchFamily="18" charset="0"/>
                <a:ea typeface="Cambria" panose="02040503050406030204" pitchFamily="18" charset="0"/>
              </a:rPr>
              <a:t>Objective</a:t>
            </a:r>
            <a:r>
              <a:rPr lang="en-US" sz="3600" dirty="0">
                <a:latin typeface="Cambria" panose="02040503050406030204" pitchFamily="18" charset="0"/>
                <a:ea typeface="Cambria" panose="02040503050406030204" pitchFamily="18" charset="0"/>
              </a:rPr>
              <a:t>: Ensure the system is user-friendly.</a:t>
            </a:r>
          </a:p>
          <a:p>
            <a:pPr>
              <a:buFont typeface="Arial" panose="020B0604020202020204" pitchFamily="34" charset="0"/>
              <a:buChar char="•"/>
            </a:pPr>
            <a:r>
              <a:rPr lang="en-US" sz="3600" b="1" dirty="0">
                <a:latin typeface="Cambria" panose="02040503050406030204" pitchFamily="18" charset="0"/>
                <a:ea typeface="Cambria" panose="02040503050406030204" pitchFamily="18" charset="0"/>
              </a:rPr>
              <a:t>Method</a:t>
            </a:r>
            <a:r>
              <a:rPr lang="en-US" sz="3600" dirty="0">
                <a:latin typeface="Cambria" panose="02040503050406030204" pitchFamily="18" charset="0"/>
                <a:ea typeface="Cambria" panose="02040503050406030204" pitchFamily="18" charset="0"/>
              </a:rPr>
              <a:t>: Created an interactive interface for tasks like "Register Vehicle" and "Pay Fine," measuring task completion times.</a:t>
            </a:r>
          </a:p>
          <a:p>
            <a:pPr>
              <a:buFont typeface="Arial" panose="020B0604020202020204" pitchFamily="34" charset="0"/>
              <a:buChar char="•"/>
            </a:pPr>
            <a:r>
              <a:rPr lang="en-US" sz="3600" b="1" dirty="0">
                <a:latin typeface="Cambria" panose="02040503050406030204" pitchFamily="18" charset="0"/>
                <a:ea typeface="Cambria" panose="02040503050406030204" pitchFamily="18" charset="0"/>
              </a:rPr>
              <a:t>Result</a:t>
            </a:r>
            <a:r>
              <a:rPr lang="en-US" sz="3600" dirty="0">
                <a:latin typeface="Cambria" panose="02040503050406030204" pitchFamily="18" charset="0"/>
                <a:ea typeface="Cambria" panose="02040503050406030204" pitchFamily="18" charset="0"/>
              </a:rPr>
              <a:t>: The system responded quickly, confirming it is intuitive and easy to use.</a:t>
            </a:r>
          </a:p>
          <a:p>
            <a:pPr marL="0" lvl="0" indent="0">
              <a:buNone/>
            </a:pPr>
            <a:br>
              <a:rPr lang="en-US" sz="1050" dirty="0">
                <a:latin typeface="Cambria" panose="02040503050406030204" pitchFamily="18" charset="0"/>
                <a:ea typeface="Cambria" panose="02040503050406030204" pitchFamily="18" charset="0"/>
              </a:rPr>
            </a:br>
            <a:endParaRPr lang="en-US" sz="105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12788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06099-AB3D-585D-AE49-E2372FC0309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6EF0D08-C5AA-309F-72C0-5D060A927BC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a:extLst>
              <a:ext uri="{FF2B5EF4-FFF2-40B4-BE49-F238E27FC236}">
                <a16:creationId xmlns:a16="http://schemas.microsoft.com/office/drawing/2014/main" id="{D5AB49C1-4C61-07B7-AE60-18FBED9AE134}"/>
              </a:ext>
            </a:extLst>
          </p:cNvPr>
          <p:cNvSpPr/>
          <p:nvPr/>
        </p:nvSpPr>
        <p:spPr>
          <a:xfrm>
            <a:off x="448364" y="419100"/>
            <a:ext cx="15604960" cy="9263843"/>
          </a:xfrm>
          <a:custGeom>
            <a:avLst/>
            <a:gdLst/>
            <a:ahLst/>
            <a:cxnLst/>
            <a:rect l="l" t="t" r="r" b="b"/>
            <a:pathLst>
              <a:path w="13818648" h="8341438">
                <a:moveTo>
                  <a:pt x="0" y="0"/>
                </a:moveTo>
                <a:lnTo>
                  <a:pt x="13818648" y="0"/>
                </a:lnTo>
                <a:lnTo>
                  <a:pt x="13818648" y="8341438"/>
                </a:lnTo>
                <a:lnTo>
                  <a:pt x="0" y="83414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Freeform 5">
            <a:extLst>
              <a:ext uri="{FF2B5EF4-FFF2-40B4-BE49-F238E27FC236}">
                <a16:creationId xmlns:a16="http://schemas.microsoft.com/office/drawing/2014/main" id="{AAB236FF-BBB0-BDD7-7D05-F05728E40A91}"/>
              </a:ext>
            </a:extLst>
          </p:cNvPr>
          <p:cNvSpPr/>
          <p:nvPr/>
        </p:nvSpPr>
        <p:spPr>
          <a:xfrm>
            <a:off x="13394336" y="6616100"/>
            <a:ext cx="7315200" cy="3670900"/>
          </a:xfrm>
          <a:custGeom>
            <a:avLst/>
            <a:gdLst/>
            <a:ahLst/>
            <a:cxnLst/>
            <a:rect l="l" t="t" r="r" b="b"/>
            <a:pathLst>
              <a:path w="7315200" h="3670900">
                <a:moveTo>
                  <a:pt x="0" y="0"/>
                </a:moveTo>
                <a:lnTo>
                  <a:pt x="7315200" y="0"/>
                </a:lnTo>
                <a:lnTo>
                  <a:pt x="7315200" y="3670900"/>
                </a:lnTo>
                <a:lnTo>
                  <a:pt x="0" y="36709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7" name="Freeform 7">
            <a:extLst>
              <a:ext uri="{FF2B5EF4-FFF2-40B4-BE49-F238E27FC236}">
                <a16:creationId xmlns:a16="http://schemas.microsoft.com/office/drawing/2014/main" id="{6608DF14-B6D5-07C8-48F8-924D5D94A01E}"/>
              </a:ext>
            </a:extLst>
          </p:cNvPr>
          <p:cNvSpPr/>
          <p:nvPr/>
        </p:nvSpPr>
        <p:spPr>
          <a:xfrm>
            <a:off x="16598096" y="1732506"/>
            <a:ext cx="907682" cy="1588939"/>
          </a:xfrm>
          <a:custGeom>
            <a:avLst/>
            <a:gdLst/>
            <a:ahLst/>
            <a:cxnLst/>
            <a:rect l="l" t="t" r="r" b="b"/>
            <a:pathLst>
              <a:path w="907682" h="1588939">
                <a:moveTo>
                  <a:pt x="0" y="0"/>
                </a:moveTo>
                <a:lnTo>
                  <a:pt x="907681" y="0"/>
                </a:lnTo>
                <a:lnTo>
                  <a:pt x="907681" y="1588939"/>
                </a:lnTo>
                <a:lnTo>
                  <a:pt x="0" y="158893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 name="Freeform 8">
            <a:extLst>
              <a:ext uri="{FF2B5EF4-FFF2-40B4-BE49-F238E27FC236}">
                <a16:creationId xmlns:a16="http://schemas.microsoft.com/office/drawing/2014/main" id="{7FF46C55-5DB6-ACE3-153C-9BFE8DA7D3C4}"/>
              </a:ext>
            </a:extLst>
          </p:cNvPr>
          <p:cNvSpPr/>
          <p:nvPr/>
        </p:nvSpPr>
        <p:spPr>
          <a:xfrm>
            <a:off x="16053324" y="905659"/>
            <a:ext cx="1160673" cy="1160673"/>
          </a:xfrm>
          <a:custGeom>
            <a:avLst/>
            <a:gdLst/>
            <a:ahLst/>
            <a:cxnLst/>
            <a:rect l="l" t="t" r="r" b="b"/>
            <a:pathLst>
              <a:path w="1160673" h="1160673">
                <a:moveTo>
                  <a:pt x="0" y="0"/>
                </a:moveTo>
                <a:lnTo>
                  <a:pt x="1160673" y="0"/>
                </a:lnTo>
                <a:lnTo>
                  <a:pt x="1160673" y="1160673"/>
                </a:lnTo>
                <a:lnTo>
                  <a:pt x="0" y="116067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0" name="TextBox 10">
            <a:extLst>
              <a:ext uri="{FF2B5EF4-FFF2-40B4-BE49-F238E27FC236}">
                <a16:creationId xmlns:a16="http://schemas.microsoft.com/office/drawing/2014/main" id="{4734420E-D76B-59B3-8C75-FB7ED7B08094}"/>
              </a:ext>
            </a:extLst>
          </p:cNvPr>
          <p:cNvSpPr txBox="1"/>
          <p:nvPr/>
        </p:nvSpPr>
        <p:spPr>
          <a:xfrm>
            <a:off x="782222" y="872174"/>
            <a:ext cx="13769796" cy="5693866"/>
          </a:xfrm>
          <a:prstGeom prst="rect">
            <a:avLst/>
          </a:prstGeom>
        </p:spPr>
        <p:txBody>
          <a:bodyPr wrap="square" lIns="0" tIns="0" rIns="0" bIns="0" rtlCol="0" anchor="t">
            <a:spAutoFit/>
          </a:bodyPr>
          <a:lstStyle/>
          <a:p>
            <a:pPr marL="0" lvl="0" indent="0">
              <a:spcBef>
                <a:spcPts val="3000"/>
              </a:spcBef>
              <a:buNone/>
            </a:pPr>
            <a:r>
              <a:rPr lang="en-US" sz="3600" b="1" dirty="0">
                <a:solidFill>
                  <a:schemeClr val="accent1">
                    <a:lumMod val="50000"/>
                  </a:schemeClr>
                </a:solidFill>
                <a:latin typeface="Cambria" panose="02040503050406030204" pitchFamily="18" charset="0"/>
                <a:ea typeface="Cambria" panose="02040503050406030204" pitchFamily="18" charset="0"/>
              </a:rPr>
              <a:t>            Challenges Encountered So Far</a:t>
            </a:r>
          </a:p>
          <a:p>
            <a:pPr marL="0" lvl="0" indent="0">
              <a:spcBef>
                <a:spcPts val="3000"/>
              </a:spcBef>
              <a:buNone/>
            </a:pPr>
            <a:endParaRPr lang="en-US" sz="3600" b="1" dirty="0">
              <a:solidFill>
                <a:schemeClr val="accent1">
                  <a:lumMod val="50000"/>
                </a:schemeClr>
              </a:solidFill>
              <a:latin typeface="Cambria" panose="02040503050406030204" pitchFamily="18" charset="0"/>
              <a:ea typeface="Cambria" panose="02040503050406030204" pitchFamily="18" charset="0"/>
            </a:endParaRPr>
          </a:p>
          <a:p>
            <a:pPr marL="342900" lvl="0" indent="-342900">
              <a:buAutoNum type="arabicPeriod"/>
            </a:pPr>
            <a:r>
              <a:rPr lang="en-US" sz="3600" b="1" dirty="0">
                <a:latin typeface="Cambria" panose="02040503050406030204" pitchFamily="18" charset="0"/>
                <a:ea typeface="Cambria" panose="02040503050406030204" pitchFamily="18" charset="0"/>
              </a:rPr>
              <a:t>Integration Complexity</a:t>
            </a:r>
            <a:r>
              <a:rPr lang="en-US" sz="3600" dirty="0">
                <a:latin typeface="Cambria" panose="02040503050406030204" pitchFamily="18" charset="0"/>
                <a:ea typeface="Cambria" panose="02040503050406030204" pitchFamily="18" charset="0"/>
              </a:rPr>
              <a:t>: Managing interactions between components.</a:t>
            </a:r>
            <a:br>
              <a:rPr lang="en-US" sz="3600" dirty="0">
                <a:latin typeface="Cambria" panose="02040503050406030204" pitchFamily="18" charset="0"/>
                <a:ea typeface="Cambria" panose="02040503050406030204" pitchFamily="18" charset="0"/>
              </a:rPr>
            </a:br>
            <a:endParaRPr lang="en-US" sz="3600" dirty="0">
              <a:latin typeface="Cambria" panose="02040503050406030204" pitchFamily="18" charset="0"/>
              <a:ea typeface="Cambria" panose="02040503050406030204" pitchFamily="18" charset="0"/>
            </a:endParaRPr>
          </a:p>
          <a:p>
            <a:pPr marL="342900" lvl="0" indent="-342900">
              <a:buAutoNum type="arabicPeriod"/>
            </a:pPr>
            <a:r>
              <a:rPr lang="en-US" sz="3600" b="1" dirty="0">
                <a:latin typeface="Cambria" panose="02040503050406030204" pitchFamily="18" charset="0"/>
                <a:ea typeface="Cambria" panose="02040503050406030204" pitchFamily="18" charset="0"/>
              </a:rPr>
              <a:t>Performance Optimization</a:t>
            </a:r>
            <a:r>
              <a:rPr lang="en-US" sz="3600" dirty="0">
                <a:latin typeface="Cambria" panose="02040503050406030204" pitchFamily="18" charset="0"/>
                <a:ea typeface="Cambria" panose="02040503050406030204" pitchFamily="18" charset="0"/>
              </a:rPr>
              <a:t>: Handling large data efficiently.</a:t>
            </a:r>
            <a:br>
              <a:rPr lang="en-US" sz="3600" dirty="0">
                <a:latin typeface="Cambria" panose="02040503050406030204" pitchFamily="18" charset="0"/>
                <a:ea typeface="Cambria" panose="02040503050406030204" pitchFamily="18" charset="0"/>
              </a:rPr>
            </a:br>
            <a:endParaRPr lang="en-US" sz="3600" dirty="0">
              <a:latin typeface="Cambria" panose="02040503050406030204" pitchFamily="18" charset="0"/>
              <a:ea typeface="Cambria" panose="02040503050406030204" pitchFamily="18" charset="0"/>
            </a:endParaRPr>
          </a:p>
          <a:p>
            <a:pPr marL="342900" lvl="0" indent="-342900">
              <a:buAutoNum type="arabicPeriod"/>
            </a:pPr>
            <a:r>
              <a:rPr lang="en-US" sz="3600" b="1" dirty="0">
                <a:latin typeface="Cambria" panose="02040503050406030204" pitchFamily="18" charset="0"/>
                <a:ea typeface="Cambria" panose="02040503050406030204" pitchFamily="18" charset="0"/>
              </a:rPr>
              <a:t>UI/UX Design</a:t>
            </a:r>
            <a:r>
              <a:rPr lang="en-US" sz="3600" dirty="0">
                <a:latin typeface="Cambria" panose="02040503050406030204" pitchFamily="18" charset="0"/>
                <a:ea typeface="Cambria" panose="02040503050406030204" pitchFamily="18" charset="0"/>
              </a:rPr>
              <a:t>: Balancing functionality and usability.</a:t>
            </a:r>
          </a:p>
          <a:p>
            <a:pPr marL="0" lvl="0" indent="0">
              <a:buNone/>
            </a:pPr>
            <a:r>
              <a:rPr lang="en-US" sz="3600" dirty="0">
                <a:latin typeface="Cambria" panose="02040503050406030204" pitchFamily="18" charset="0"/>
                <a:ea typeface="Cambria" panose="02040503050406030204" pitchFamily="18" charset="0"/>
              </a:rPr>
              <a:t>Solutions were found through iterative development and testing.</a:t>
            </a:r>
          </a:p>
          <a:p>
            <a:pPr marL="0" lvl="0" indent="0">
              <a:buNone/>
            </a:pPr>
            <a:br>
              <a:rPr lang="en-US" sz="1050" dirty="0">
                <a:latin typeface="Cambria" panose="02040503050406030204" pitchFamily="18" charset="0"/>
                <a:ea typeface="Cambria" panose="02040503050406030204" pitchFamily="18" charset="0"/>
              </a:rPr>
            </a:br>
            <a:endParaRPr lang="en-US" sz="105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77321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4090B-FB19-36F3-5FBD-C8C877C501A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30D79B5-B13E-735E-B4A9-BD78879C459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a:extLst>
              <a:ext uri="{FF2B5EF4-FFF2-40B4-BE49-F238E27FC236}">
                <a16:creationId xmlns:a16="http://schemas.microsoft.com/office/drawing/2014/main" id="{C2FE0ED2-ED2A-1860-E854-F07248F3172A}"/>
              </a:ext>
            </a:extLst>
          </p:cNvPr>
          <p:cNvSpPr/>
          <p:nvPr/>
        </p:nvSpPr>
        <p:spPr>
          <a:xfrm>
            <a:off x="448364" y="419100"/>
            <a:ext cx="15604960" cy="9263843"/>
          </a:xfrm>
          <a:custGeom>
            <a:avLst/>
            <a:gdLst/>
            <a:ahLst/>
            <a:cxnLst/>
            <a:rect l="l" t="t" r="r" b="b"/>
            <a:pathLst>
              <a:path w="13818648" h="8341438">
                <a:moveTo>
                  <a:pt x="0" y="0"/>
                </a:moveTo>
                <a:lnTo>
                  <a:pt x="13818648" y="0"/>
                </a:lnTo>
                <a:lnTo>
                  <a:pt x="13818648" y="8341438"/>
                </a:lnTo>
                <a:lnTo>
                  <a:pt x="0" y="83414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Freeform 5">
            <a:extLst>
              <a:ext uri="{FF2B5EF4-FFF2-40B4-BE49-F238E27FC236}">
                <a16:creationId xmlns:a16="http://schemas.microsoft.com/office/drawing/2014/main" id="{CF68BBFE-5838-A88B-5EE6-F48F7EB87194}"/>
              </a:ext>
            </a:extLst>
          </p:cNvPr>
          <p:cNvSpPr/>
          <p:nvPr/>
        </p:nvSpPr>
        <p:spPr>
          <a:xfrm>
            <a:off x="13394336" y="6616100"/>
            <a:ext cx="7315200" cy="3670900"/>
          </a:xfrm>
          <a:custGeom>
            <a:avLst/>
            <a:gdLst/>
            <a:ahLst/>
            <a:cxnLst/>
            <a:rect l="l" t="t" r="r" b="b"/>
            <a:pathLst>
              <a:path w="7315200" h="3670900">
                <a:moveTo>
                  <a:pt x="0" y="0"/>
                </a:moveTo>
                <a:lnTo>
                  <a:pt x="7315200" y="0"/>
                </a:lnTo>
                <a:lnTo>
                  <a:pt x="7315200" y="3670900"/>
                </a:lnTo>
                <a:lnTo>
                  <a:pt x="0" y="36709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7" name="Freeform 7">
            <a:extLst>
              <a:ext uri="{FF2B5EF4-FFF2-40B4-BE49-F238E27FC236}">
                <a16:creationId xmlns:a16="http://schemas.microsoft.com/office/drawing/2014/main" id="{E59A6112-B595-3842-3FB4-A6DBD0F6DCA2}"/>
              </a:ext>
            </a:extLst>
          </p:cNvPr>
          <p:cNvSpPr/>
          <p:nvPr/>
        </p:nvSpPr>
        <p:spPr>
          <a:xfrm>
            <a:off x="16598096" y="1732506"/>
            <a:ext cx="907682" cy="1588939"/>
          </a:xfrm>
          <a:custGeom>
            <a:avLst/>
            <a:gdLst/>
            <a:ahLst/>
            <a:cxnLst/>
            <a:rect l="l" t="t" r="r" b="b"/>
            <a:pathLst>
              <a:path w="907682" h="1588939">
                <a:moveTo>
                  <a:pt x="0" y="0"/>
                </a:moveTo>
                <a:lnTo>
                  <a:pt x="907681" y="0"/>
                </a:lnTo>
                <a:lnTo>
                  <a:pt x="907681" y="1588939"/>
                </a:lnTo>
                <a:lnTo>
                  <a:pt x="0" y="158893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 name="Freeform 8">
            <a:extLst>
              <a:ext uri="{FF2B5EF4-FFF2-40B4-BE49-F238E27FC236}">
                <a16:creationId xmlns:a16="http://schemas.microsoft.com/office/drawing/2014/main" id="{6A022994-C564-53E4-D849-5BB185303105}"/>
              </a:ext>
            </a:extLst>
          </p:cNvPr>
          <p:cNvSpPr/>
          <p:nvPr/>
        </p:nvSpPr>
        <p:spPr>
          <a:xfrm>
            <a:off x="16053324" y="905659"/>
            <a:ext cx="1160673" cy="1160673"/>
          </a:xfrm>
          <a:custGeom>
            <a:avLst/>
            <a:gdLst/>
            <a:ahLst/>
            <a:cxnLst/>
            <a:rect l="l" t="t" r="r" b="b"/>
            <a:pathLst>
              <a:path w="1160673" h="1160673">
                <a:moveTo>
                  <a:pt x="0" y="0"/>
                </a:moveTo>
                <a:lnTo>
                  <a:pt x="1160673" y="0"/>
                </a:lnTo>
                <a:lnTo>
                  <a:pt x="1160673" y="1160673"/>
                </a:lnTo>
                <a:lnTo>
                  <a:pt x="0" y="116067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0" name="TextBox 10">
            <a:extLst>
              <a:ext uri="{FF2B5EF4-FFF2-40B4-BE49-F238E27FC236}">
                <a16:creationId xmlns:a16="http://schemas.microsoft.com/office/drawing/2014/main" id="{63AC932F-16F0-A21E-7BC3-9FB0E125BF56}"/>
              </a:ext>
            </a:extLst>
          </p:cNvPr>
          <p:cNvSpPr txBox="1"/>
          <p:nvPr/>
        </p:nvSpPr>
        <p:spPr>
          <a:xfrm>
            <a:off x="1209525" y="905659"/>
            <a:ext cx="13769796" cy="5016758"/>
          </a:xfrm>
          <a:prstGeom prst="rect">
            <a:avLst/>
          </a:prstGeom>
        </p:spPr>
        <p:txBody>
          <a:bodyPr wrap="square" lIns="0" tIns="0" rIns="0" bIns="0" rtlCol="0" anchor="t">
            <a:spAutoFit/>
          </a:bodyPr>
          <a:lstStyle/>
          <a:p>
            <a:pPr marL="0" lvl="0" indent="0">
              <a:spcBef>
                <a:spcPts val="3000"/>
              </a:spcBef>
              <a:buNone/>
            </a:pPr>
            <a:r>
              <a:rPr lang="en-US" sz="4000" b="1" dirty="0">
                <a:solidFill>
                  <a:schemeClr val="accent1">
                    <a:lumMod val="50000"/>
                  </a:schemeClr>
                </a:solidFill>
                <a:latin typeface="Cambria" panose="02040503050406030204" pitchFamily="18" charset="0"/>
                <a:ea typeface="Cambria" panose="02040503050406030204" pitchFamily="18" charset="0"/>
              </a:rPr>
              <a:t>      Lessons Learned During the Project</a:t>
            </a:r>
          </a:p>
          <a:p>
            <a:pPr marL="0" lvl="0" indent="0">
              <a:spcBef>
                <a:spcPts val="3000"/>
              </a:spcBef>
              <a:buNone/>
            </a:pPr>
            <a:endParaRPr lang="en-US" sz="4000" b="1" dirty="0">
              <a:solidFill>
                <a:schemeClr val="accent1">
                  <a:lumMod val="50000"/>
                </a:schemeClr>
              </a:solidFill>
              <a:latin typeface="Cambria" panose="02040503050406030204" pitchFamily="18" charset="0"/>
              <a:ea typeface="Cambria" panose="02040503050406030204" pitchFamily="18" charset="0"/>
            </a:endParaRPr>
          </a:p>
          <a:p>
            <a:pPr marL="342900" lvl="0" indent="-342900">
              <a:buAutoNum type="arabicPeriod"/>
            </a:pPr>
            <a:r>
              <a:rPr lang="en-US" sz="4000" b="1" dirty="0">
                <a:latin typeface="Cambria" panose="02040503050406030204" pitchFamily="18" charset="0"/>
                <a:ea typeface="Cambria" panose="02040503050406030204" pitchFamily="18" charset="0"/>
              </a:rPr>
              <a:t>System Design</a:t>
            </a:r>
            <a:r>
              <a:rPr lang="en-US" sz="4000" dirty="0">
                <a:latin typeface="Cambria" panose="02040503050406030204" pitchFamily="18" charset="0"/>
                <a:ea typeface="Cambria" panose="02040503050406030204" pitchFamily="18" charset="0"/>
              </a:rPr>
              <a:t>: Early detailed diagrams simplified development.</a:t>
            </a:r>
            <a:br>
              <a:rPr lang="en-US" sz="4000" dirty="0">
                <a:latin typeface="Cambria" panose="02040503050406030204" pitchFamily="18" charset="0"/>
                <a:ea typeface="Cambria" panose="02040503050406030204" pitchFamily="18" charset="0"/>
              </a:rPr>
            </a:br>
            <a:endParaRPr lang="en-US" sz="4000" dirty="0">
              <a:latin typeface="Cambria" panose="02040503050406030204" pitchFamily="18" charset="0"/>
              <a:ea typeface="Cambria" panose="02040503050406030204" pitchFamily="18" charset="0"/>
            </a:endParaRPr>
          </a:p>
          <a:p>
            <a:pPr marL="342900" lvl="0" indent="-342900">
              <a:buAutoNum type="arabicPeriod"/>
            </a:pPr>
            <a:r>
              <a:rPr lang="en-US" sz="4000" b="1" dirty="0">
                <a:latin typeface="Cambria" panose="02040503050406030204" pitchFamily="18" charset="0"/>
                <a:ea typeface="Cambria" panose="02040503050406030204" pitchFamily="18" charset="0"/>
              </a:rPr>
              <a:t>Decomposing Tasks</a:t>
            </a:r>
            <a:r>
              <a:rPr lang="en-US" sz="4000" dirty="0">
                <a:latin typeface="Cambria" panose="02040503050406030204" pitchFamily="18" charset="0"/>
                <a:ea typeface="Cambria" panose="02040503050406030204" pitchFamily="18" charset="0"/>
              </a:rPr>
              <a:t>: Breaking down features eased implementation.</a:t>
            </a:r>
            <a:br>
              <a:rPr lang="en-US" sz="4000" dirty="0">
                <a:latin typeface="Cambria" panose="02040503050406030204" pitchFamily="18" charset="0"/>
                <a:ea typeface="Cambria" panose="02040503050406030204" pitchFamily="18" charset="0"/>
              </a:rPr>
            </a:br>
            <a:br>
              <a:rPr lang="en-US" sz="1050" dirty="0">
                <a:latin typeface="Cambria" panose="02040503050406030204" pitchFamily="18" charset="0"/>
                <a:ea typeface="Cambria" panose="02040503050406030204" pitchFamily="18" charset="0"/>
              </a:rPr>
            </a:br>
            <a:endParaRPr lang="en-US" sz="105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04590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p:cNvSpPr/>
          <p:nvPr/>
        </p:nvSpPr>
        <p:spPr>
          <a:xfrm>
            <a:off x="6826842" y="742501"/>
            <a:ext cx="10780016" cy="8224925"/>
          </a:xfrm>
          <a:custGeom>
            <a:avLst/>
            <a:gdLst/>
            <a:ahLst/>
            <a:cxnLst/>
            <a:rect l="l" t="t" r="r" b="b"/>
            <a:pathLst>
              <a:path w="8245530" h="6281594">
                <a:moveTo>
                  <a:pt x="0" y="0"/>
                </a:moveTo>
                <a:lnTo>
                  <a:pt x="8245530" y="0"/>
                </a:lnTo>
                <a:lnTo>
                  <a:pt x="8245530" y="6281594"/>
                </a:lnTo>
                <a:lnTo>
                  <a:pt x="0" y="62815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16521443" y="8947476"/>
            <a:ext cx="1085415" cy="621647"/>
          </a:xfrm>
          <a:custGeom>
            <a:avLst/>
            <a:gdLst/>
            <a:ahLst/>
            <a:cxnLst/>
            <a:rect l="l" t="t" r="r" b="b"/>
            <a:pathLst>
              <a:path w="1085415" h="621647">
                <a:moveTo>
                  <a:pt x="0" y="0"/>
                </a:moveTo>
                <a:lnTo>
                  <a:pt x="1085416" y="0"/>
                </a:lnTo>
                <a:lnTo>
                  <a:pt x="1085416" y="621648"/>
                </a:lnTo>
                <a:lnTo>
                  <a:pt x="0" y="62164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 name="Freeform 5"/>
          <p:cNvSpPr/>
          <p:nvPr/>
        </p:nvSpPr>
        <p:spPr>
          <a:xfrm>
            <a:off x="101206" y="5688559"/>
            <a:ext cx="6393051" cy="4114800"/>
          </a:xfrm>
          <a:custGeom>
            <a:avLst/>
            <a:gdLst/>
            <a:ahLst/>
            <a:cxnLst/>
            <a:rect l="l" t="t" r="r" b="b"/>
            <a:pathLst>
              <a:path w="6393051" h="4114800">
                <a:moveTo>
                  <a:pt x="0" y="0"/>
                </a:moveTo>
                <a:lnTo>
                  <a:pt x="6393051" y="0"/>
                </a:lnTo>
                <a:lnTo>
                  <a:pt x="6393051"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6" name="Freeform 6"/>
          <p:cNvSpPr/>
          <p:nvPr/>
        </p:nvSpPr>
        <p:spPr>
          <a:xfrm>
            <a:off x="3109268" y="4059172"/>
            <a:ext cx="2290603" cy="3057843"/>
          </a:xfrm>
          <a:custGeom>
            <a:avLst/>
            <a:gdLst/>
            <a:ahLst/>
            <a:cxnLst/>
            <a:rect l="l" t="t" r="r" b="b"/>
            <a:pathLst>
              <a:path w="2290603" h="3057843">
                <a:moveTo>
                  <a:pt x="0" y="0"/>
                </a:moveTo>
                <a:lnTo>
                  <a:pt x="2290603" y="0"/>
                </a:lnTo>
                <a:lnTo>
                  <a:pt x="2290603" y="3057843"/>
                </a:lnTo>
                <a:lnTo>
                  <a:pt x="0" y="30578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dirty="0"/>
          </a:p>
        </p:txBody>
      </p:sp>
      <p:sp>
        <p:nvSpPr>
          <p:cNvPr id="7" name="Freeform 7"/>
          <p:cNvSpPr/>
          <p:nvPr/>
        </p:nvSpPr>
        <p:spPr>
          <a:xfrm>
            <a:off x="354968" y="1549588"/>
            <a:ext cx="907682" cy="1588939"/>
          </a:xfrm>
          <a:custGeom>
            <a:avLst/>
            <a:gdLst/>
            <a:ahLst/>
            <a:cxnLst/>
            <a:rect l="l" t="t" r="r" b="b"/>
            <a:pathLst>
              <a:path w="907682" h="1588939">
                <a:moveTo>
                  <a:pt x="0" y="0"/>
                </a:moveTo>
                <a:lnTo>
                  <a:pt x="907682" y="0"/>
                </a:lnTo>
                <a:lnTo>
                  <a:pt x="907682" y="1588939"/>
                </a:lnTo>
                <a:lnTo>
                  <a:pt x="0" y="158893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8" name="Freeform 8"/>
          <p:cNvSpPr/>
          <p:nvPr/>
        </p:nvSpPr>
        <p:spPr>
          <a:xfrm>
            <a:off x="-189804" y="722741"/>
            <a:ext cx="1160673" cy="1160673"/>
          </a:xfrm>
          <a:custGeom>
            <a:avLst/>
            <a:gdLst/>
            <a:ahLst/>
            <a:cxnLst/>
            <a:rect l="l" t="t" r="r" b="b"/>
            <a:pathLst>
              <a:path w="1160673" h="1160673">
                <a:moveTo>
                  <a:pt x="0" y="0"/>
                </a:moveTo>
                <a:lnTo>
                  <a:pt x="1160673" y="0"/>
                </a:lnTo>
                <a:lnTo>
                  <a:pt x="1160673" y="1160672"/>
                </a:lnTo>
                <a:lnTo>
                  <a:pt x="0" y="116067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sp>
        <p:nvSpPr>
          <p:cNvPr id="9" name="Freeform 9"/>
          <p:cNvSpPr/>
          <p:nvPr/>
        </p:nvSpPr>
        <p:spPr>
          <a:xfrm>
            <a:off x="5935606" y="8445035"/>
            <a:ext cx="1798445" cy="1958702"/>
          </a:xfrm>
          <a:custGeom>
            <a:avLst/>
            <a:gdLst/>
            <a:ahLst/>
            <a:cxnLst/>
            <a:rect l="l" t="t" r="r" b="b"/>
            <a:pathLst>
              <a:path w="1798445" h="1958702">
                <a:moveTo>
                  <a:pt x="0" y="0"/>
                </a:moveTo>
                <a:lnTo>
                  <a:pt x="1798445" y="0"/>
                </a:lnTo>
                <a:lnTo>
                  <a:pt x="1798445" y="1958702"/>
                </a:lnTo>
                <a:lnTo>
                  <a:pt x="0" y="195870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dirty="0"/>
          </a:p>
        </p:txBody>
      </p:sp>
      <p:sp>
        <p:nvSpPr>
          <p:cNvPr id="10" name="TextBox 10"/>
          <p:cNvSpPr txBox="1"/>
          <p:nvPr/>
        </p:nvSpPr>
        <p:spPr>
          <a:xfrm>
            <a:off x="7487893" y="989696"/>
            <a:ext cx="9043818" cy="8383385"/>
          </a:xfrm>
          <a:prstGeom prst="rect">
            <a:avLst/>
          </a:prstGeom>
        </p:spPr>
        <p:txBody>
          <a:bodyPr wrap="square" lIns="0" tIns="0" rIns="0" bIns="0" rtlCol="0" anchor="t">
            <a:spAutoFit/>
          </a:bodyPr>
          <a:lstStyle/>
          <a:p>
            <a:pPr marL="0" lvl="0" indent="0">
              <a:spcBef>
                <a:spcPts val="3000"/>
              </a:spcBef>
              <a:buNone/>
            </a:pPr>
            <a:r>
              <a:rPr lang="en-US" sz="4000" b="1" dirty="0">
                <a:solidFill>
                  <a:schemeClr val="accent1">
                    <a:lumMod val="50000"/>
                  </a:schemeClr>
                </a:solidFill>
                <a:latin typeface="Cambria" panose="02040503050406030204" pitchFamily="18" charset="0"/>
                <a:ea typeface="Cambria" panose="02040503050406030204" pitchFamily="18" charset="0"/>
              </a:rPr>
              <a:t>      Future Work and Next Steps</a:t>
            </a:r>
          </a:p>
          <a:p>
            <a:pPr marL="0" lvl="0" indent="0">
              <a:spcBef>
                <a:spcPts val="3000"/>
              </a:spcBef>
              <a:buNone/>
            </a:pPr>
            <a:endParaRPr lang="en-US" sz="4000" b="1" dirty="0">
              <a:solidFill>
                <a:schemeClr val="accent1">
                  <a:lumMod val="50000"/>
                </a:schemeClr>
              </a:solidFill>
              <a:latin typeface="Cambria" panose="02040503050406030204" pitchFamily="18" charset="0"/>
              <a:ea typeface="Cambria" panose="02040503050406030204" pitchFamily="18" charset="0"/>
            </a:endParaRPr>
          </a:p>
          <a:p>
            <a:pPr marL="342900" lvl="0" indent="-342900">
              <a:buAutoNum type="arabicPeriod"/>
            </a:pPr>
            <a:r>
              <a:rPr lang="en-US" sz="3600" b="1" dirty="0">
                <a:latin typeface="Cambria" panose="02040503050406030204" pitchFamily="18" charset="0"/>
                <a:ea typeface="Cambria" panose="02040503050406030204" pitchFamily="18" charset="0"/>
              </a:rPr>
              <a:t>Design Patterns Implementation</a:t>
            </a:r>
            <a:r>
              <a:rPr lang="en-US" sz="3600" dirty="0">
                <a:latin typeface="Cambria" panose="02040503050406030204" pitchFamily="18" charset="0"/>
                <a:ea typeface="Cambria" panose="02040503050406030204" pitchFamily="18" charset="0"/>
              </a:rPr>
              <a:t>: Apply at least two design patterns to improve architecture.</a:t>
            </a:r>
            <a:br>
              <a:rPr lang="en-US" sz="3600" dirty="0">
                <a:latin typeface="Cambria" panose="02040503050406030204" pitchFamily="18" charset="0"/>
                <a:ea typeface="Cambria" panose="02040503050406030204" pitchFamily="18" charset="0"/>
              </a:rPr>
            </a:br>
            <a:endParaRPr lang="en-US" sz="3600" dirty="0">
              <a:latin typeface="Cambria" panose="02040503050406030204" pitchFamily="18" charset="0"/>
              <a:ea typeface="Cambria" panose="02040503050406030204" pitchFamily="18" charset="0"/>
            </a:endParaRPr>
          </a:p>
          <a:p>
            <a:pPr marL="342900" lvl="0" indent="-342900">
              <a:buAutoNum type="arabicPeriod"/>
            </a:pPr>
            <a:r>
              <a:rPr lang="en-US" sz="3600" b="1" dirty="0">
                <a:latin typeface="Cambria" panose="02040503050406030204" pitchFamily="18" charset="0"/>
                <a:ea typeface="Cambria" panose="02040503050406030204" pitchFamily="18" charset="0"/>
              </a:rPr>
              <a:t>Project Management Deliverables</a:t>
            </a:r>
            <a:r>
              <a:rPr lang="en-US" sz="3600" dirty="0">
                <a:latin typeface="Cambria" panose="02040503050406030204" pitchFamily="18" charset="0"/>
                <a:ea typeface="Cambria" panose="02040503050406030204" pitchFamily="18" charset="0"/>
              </a:rPr>
              <a:t>: Create a Gantt chart and dependency graph to track progress.</a:t>
            </a:r>
            <a:br>
              <a:rPr lang="en-US" sz="3600" dirty="0">
                <a:latin typeface="Cambria" panose="02040503050406030204" pitchFamily="18" charset="0"/>
                <a:ea typeface="Cambria" panose="02040503050406030204" pitchFamily="18" charset="0"/>
              </a:rPr>
            </a:br>
            <a:endParaRPr lang="en-US" sz="3600" dirty="0">
              <a:latin typeface="Cambria" panose="02040503050406030204" pitchFamily="18" charset="0"/>
              <a:ea typeface="Cambria" panose="02040503050406030204" pitchFamily="18" charset="0"/>
            </a:endParaRPr>
          </a:p>
          <a:p>
            <a:pPr marL="342900" lvl="0" indent="-342900">
              <a:buAutoNum type="arabicPeriod"/>
            </a:pPr>
            <a:r>
              <a:rPr lang="en-US" sz="3600" b="1" dirty="0">
                <a:latin typeface="Cambria" panose="02040503050406030204" pitchFamily="18" charset="0"/>
                <a:ea typeface="Cambria" panose="02040503050406030204" pitchFamily="18" charset="0"/>
              </a:rPr>
              <a:t>Reflection and Team Evaluation</a:t>
            </a:r>
            <a:r>
              <a:rPr lang="en-US" sz="3600" dirty="0">
                <a:latin typeface="Cambria" panose="02040503050406030204" pitchFamily="18" charset="0"/>
                <a:ea typeface="Cambria" panose="02040503050406030204" pitchFamily="18" charset="0"/>
              </a:rPr>
              <a:t>: Prepare individual reflection reports on experiences, challenges, and lessons learned.</a:t>
            </a:r>
          </a:p>
          <a:p>
            <a:pPr algn="l">
              <a:lnSpc>
                <a:spcPts val="5627"/>
              </a:lnSpc>
              <a:spcBef>
                <a:spcPct val="0"/>
              </a:spcBef>
            </a:pPr>
            <a:endParaRPr lang="en-US" sz="4400" b="1" dirty="0">
              <a:solidFill>
                <a:srgbClr val="295BBE"/>
              </a:solidFill>
              <a:latin typeface="Cambria" panose="02040503050406030204" pitchFamily="18" charset="0"/>
              <a:ea typeface="Cambria" panose="02040503050406030204" pitchFamily="18" charset="0"/>
              <a:cs typeface="Raleway Bold"/>
              <a:sym typeface="Raleway Bold"/>
            </a:endParaRPr>
          </a:p>
        </p:txBody>
      </p:sp>
      <p:sp>
        <p:nvSpPr>
          <p:cNvPr id="13" name="Freeform 13"/>
          <p:cNvSpPr/>
          <p:nvPr/>
        </p:nvSpPr>
        <p:spPr>
          <a:xfrm>
            <a:off x="16807807" y="-236850"/>
            <a:ext cx="1798445" cy="1958702"/>
          </a:xfrm>
          <a:custGeom>
            <a:avLst/>
            <a:gdLst/>
            <a:ahLst/>
            <a:cxnLst/>
            <a:rect l="l" t="t" r="r" b="b"/>
            <a:pathLst>
              <a:path w="1798445" h="1958702">
                <a:moveTo>
                  <a:pt x="0" y="0"/>
                </a:moveTo>
                <a:lnTo>
                  <a:pt x="1798445" y="0"/>
                </a:lnTo>
                <a:lnTo>
                  <a:pt x="1798445" y="1958703"/>
                </a:lnTo>
                <a:lnTo>
                  <a:pt x="0" y="1958703"/>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
        <p:nvSpPr>
          <p:cNvPr id="14" name="Freeform 14"/>
          <p:cNvSpPr/>
          <p:nvPr/>
        </p:nvSpPr>
        <p:spPr>
          <a:xfrm>
            <a:off x="16058407" y="5795933"/>
            <a:ext cx="3009144" cy="1132532"/>
          </a:xfrm>
          <a:custGeom>
            <a:avLst/>
            <a:gdLst/>
            <a:ahLst/>
            <a:cxnLst/>
            <a:rect l="l" t="t" r="r" b="b"/>
            <a:pathLst>
              <a:path w="3009144" h="1132532">
                <a:moveTo>
                  <a:pt x="0" y="0"/>
                </a:moveTo>
                <a:lnTo>
                  <a:pt x="3009144" y="0"/>
                </a:lnTo>
                <a:lnTo>
                  <a:pt x="3009144" y="1132533"/>
                </a:lnTo>
                <a:lnTo>
                  <a:pt x="0" y="113253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p:cNvSpPr/>
          <p:nvPr/>
        </p:nvSpPr>
        <p:spPr>
          <a:xfrm>
            <a:off x="4934641" y="562930"/>
            <a:ext cx="12160161" cy="8523702"/>
          </a:xfrm>
          <a:custGeom>
            <a:avLst/>
            <a:gdLst/>
            <a:ahLst/>
            <a:cxnLst/>
            <a:rect l="l" t="t" r="r" b="b"/>
            <a:pathLst>
              <a:path w="8245530" h="6281594">
                <a:moveTo>
                  <a:pt x="0" y="0"/>
                </a:moveTo>
                <a:lnTo>
                  <a:pt x="8245530" y="0"/>
                </a:lnTo>
                <a:lnTo>
                  <a:pt x="8245530" y="6281594"/>
                </a:lnTo>
                <a:lnTo>
                  <a:pt x="0" y="62815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16521443" y="8947476"/>
            <a:ext cx="1085415" cy="621647"/>
          </a:xfrm>
          <a:custGeom>
            <a:avLst/>
            <a:gdLst/>
            <a:ahLst/>
            <a:cxnLst/>
            <a:rect l="l" t="t" r="r" b="b"/>
            <a:pathLst>
              <a:path w="1085415" h="621647">
                <a:moveTo>
                  <a:pt x="0" y="0"/>
                </a:moveTo>
                <a:lnTo>
                  <a:pt x="1085416" y="0"/>
                </a:lnTo>
                <a:lnTo>
                  <a:pt x="1085416" y="621648"/>
                </a:lnTo>
                <a:lnTo>
                  <a:pt x="0" y="62164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 name="Freeform 5"/>
          <p:cNvSpPr/>
          <p:nvPr/>
        </p:nvSpPr>
        <p:spPr>
          <a:xfrm>
            <a:off x="-353964" y="4434602"/>
            <a:ext cx="4816289" cy="6723246"/>
          </a:xfrm>
          <a:custGeom>
            <a:avLst/>
            <a:gdLst/>
            <a:ahLst/>
            <a:cxnLst/>
            <a:rect l="l" t="t" r="r" b="b"/>
            <a:pathLst>
              <a:path w="4816289" h="6723246">
                <a:moveTo>
                  <a:pt x="0" y="0"/>
                </a:moveTo>
                <a:lnTo>
                  <a:pt x="4816289" y="0"/>
                </a:lnTo>
                <a:lnTo>
                  <a:pt x="4816289" y="6723246"/>
                </a:lnTo>
                <a:lnTo>
                  <a:pt x="0" y="672324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dirty="0"/>
          </a:p>
        </p:txBody>
      </p:sp>
      <p:sp>
        <p:nvSpPr>
          <p:cNvPr id="7" name="Freeform 7"/>
          <p:cNvSpPr/>
          <p:nvPr/>
        </p:nvSpPr>
        <p:spPr>
          <a:xfrm>
            <a:off x="354968" y="1549588"/>
            <a:ext cx="907682" cy="1588939"/>
          </a:xfrm>
          <a:custGeom>
            <a:avLst/>
            <a:gdLst/>
            <a:ahLst/>
            <a:cxnLst/>
            <a:rect l="l" t="t" r="r" b="b"/>
            <a:pathLst>
              <a:path w="907682" h="1588939">
                <a:moveTo>
                  <a:pt x="0" y="0"/>
                </a:moveTo>
                <a:lnTo>
                  <a:pt x="907682" y="0"/>
                </a:lnTo>
                <a:lnTo>
                  <a:pt x="907682" y="1588939"/>
                </a:lnTo>
                <a:lnTo>
                  <a:pt x="0" y="158893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8" name="Freeform 8"/>
          <p:cNvSpPr/>
          <p:nvPr/>
        </p:nvSpPr>
        <p:spPr>
          <a:xfrm>
            <a:off x="-189804" y="722741"/>
            <a:ext cx="1160673" cy="1160673"/>
          </a:xfrm>
          <a:custGeom>
            <a:avLst/>
            <a:gdLst/>
            <a:ahLst/>
            <a:cxnLst/>
            <a:rect l="l" t="t" r="r" b="b"/>
            <a:pathLst>
              <a:path w="1160673" h="1160673">
                <a:moveTo>
                  <a:pt x="0" y="0"/>
                </a:moveTo>
                <a:lnTo>
                  <a:pt x="1160673" y="0"/>
                </a:lnTo>
                <a:lnTo>
                  <a:pt x="1160673" y="1160672"/>
                </a:lnTo>
                <a:lnTo>
                  <a:pt x="0" y="116067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9" name="Freeform 9"/>
          <p:cNvSpPr/>
          <p:nvPr/>
        </p:nvSpPr>
        <p:spPr>
          <a:xfrm>
            <a:off x="16186829" y="7199430"/>
            <a:ext cx="3009144" cy="1132532"/>
          </a:xfrm>
          <a:custGeom>
            <a:avLst/>
            <a:gdLst/>
            <a:ahLst/>
            <a:cxnLst/>
            <a:rect l="l" t="t" r="r" b="b"/>
            <a:pathLst>
              <a:path w="3009144" h="1132532">
                <a:moveTo>
                  <a:pt x="0" y="0"/>
                </a:moveTo>
                <a:lnTo>
                  <a:pt x="3009144" y="0"/>
                </a:lnTo>
                <a:lnTo>
                  <a:pt x="3009144" y="1132533"/>
                </a:lnTo>
                <a:lnTo>
                  <a:pt x="0" y="113253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dirty="0"/>
          </a:p>
        </p:txBody>
      </p:sp>
      <p:sp>
        <p:nvSpPr>
          <p:cNvPr id="10" name="TextBox 10"/>
          <p:cNvSpPr txBox="1"/>
          <p:nvPr/>
        </p:nvSpPr>
        <p:spPr>
          <a:xfrm>
            <a:off x="5324798" y="35356"/>
            <a:ext cx="11696553" cy="6986528"/>
          </a:xfrm>
          <a:prstGeom prst="rect">
            <a:avLst/>
          </a:prstGeom>
        </p:spPr>
        <p:txBody>
          <a:bodyPr wrap="square" lIns="0" tIns="0" rIns="0" bIns="0" rtlCol="0" anchor="t">
            <a:spAutoFit/>
          </a:bodyPr>
          <a:lstStyle/>
          <a:p>
            <a:pPr marL="0" lvl="0" indent="0">
              <a:spcBef>
                <a:spcPts val="3000"/>
              </a:spcBef>
              <a:buNone/>
            </a:pPr>
            <a:r>
              <a:rPr lang="en-US" sz="4000" b="1" dirty="0">
                <a:latin typeface="Cambria" panose="02040503050406030204" pitchFamily="18" charset="0"/>
                <a:ea typeface="Cambria" panose="02040503050406030204" pitchFamily="18" charset="0"/>
              </a:rPr>
              <a:t>  </a:t>
            </a:r>
          </a:p>
          <a:p>
            <a:pPr marL="0" lvl="0" indent="0">
              <a:spcBef>
                <a:spcPts val="3000"/>
              </a:spcBef>
              <a:buNone/>
            </a:pPr>
            <a:r>
              <a:rPr lang="en-US" sz="4000" b="1" dirty="0">
                <a:solidFill>
                  <a:schemeClr val="accent1">
                    <a:lumMod val="50000"/>
                  </a:schemeClr>
                </a:solidFill>
                <a:latin typeface="Cambria" panose="02040503050406030204" pitchFamily="18" charset="0"/>
                <a:ea typeface="Cambria" panose="02040503050406030204" pitchFamily="18" charset="0"/>
              </a:rPr>
              <a:t>           Conclusion</a:t>
            </a:r>
          </a:p>
          <a:p>
            <a:pPr marL="0" lvl="0" indent="0">
              <a:spcBef>
                <a:spcPts val="3000"/>
              </a:spcBef>
              <a:buNone/>
            </a:pPr>
            <a:endParaRPr lang="en-US" sz="3600" b="1" dirty="0">
              <a:latin typeface="Cambria" panose="02040503050406030204" pitchFamily="18" charset="0"/>
              <a:ea typeface="Cambria" panose="02040503050406030204" pitchFamily="18" charset="0"/>
            </a:endParaRPr>
          </a:p>
          <a:p>
            <a:pPr marL="0" lvl="0" indent="0">
              <a:buNone/>
            </a:pPr>
            <a:r>
              <a:rPr lang="en-US" sz="3600" dirty="0">
                <a:latin typeface="Cambria" panose="02040503050406030204" pitchFamily="18" charset="0"/>
                <a:ea typeface="Cambria" panose="02040503050406030204" pitchFamily="18" charset="0"/>
              </a:rPr>
              <a:t>Significant progress has been made on the Qatar Vehicle Registration System. Core features such as accident reporting, ownership transfer, and payment processing have been successfully implemented and tested.</a:t>
            </a:r>
          </a:p>
          <a:p>
            <a:pPr marL="0" lvl="0" indent="0">
              <a:buNone/>
            </a:pPr>
            <a:r>
              <a:rPr lang="en-US" sz="3600" dirty="0">
                <a:latin typeface="Cambria" panose="02040503050406030204" pitchFamily="18" charset="0"/>
                <a:ea typeface="Cambria" panose="02040503050406030204" pitchFamily="18" charset="0"/>
              </a:rPr>
              <a:t>This project has provided valuable insights into system design, integration, and user-centered development. We look forward to finalizing the remaining tasks and delivering a robust, user-friendly solution</a:t>
            </a:r>
          </a:p>
        </p:txBody>
      </p:sp>
      <p:sp>
        <p:nvSpPr>
          <p:cNvPr id="13" name="Freeform 13"/>
          <p:cNvSpPr/>
          <p:nvPr/>
        </p:nvSpPr>
        <p:spPr>
          <a:xfrm>
            <a:off x="4411055" y="8095766"/>
            <a:ext cx="1765702" cy="1981910"/>
          </a:xfrm>
          <a:custGeom>
            <a:avLst/>
            <a:gdLst/>
            <a:ahLst/>
            <a:cxnLst/>
            <a:rect l="l" t="t" r="r" b="b"/>
            <a:pathLst>
              <a:path w="1765702" h="1981910">
                <a:moveTo>
                  <a:pt x="0" y="0"/>
                </a:moveTo>
                <a:lnTo>
                  <a:pt x="1765701" y="0"/>
                </a:lnTo>
                <a:lnTo>
                  <a:pt x="1765701" y="1981910"/>
                </a:lnTo>
                <a:lnTo>
                  <a:pt x="0" y="198191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dirty="0"/>
          </a:p>
        </p:txBody>
      </p:sp>
      <p:sp>
        <p:nvSpPr>
          <p:cNvPr id="14" name="Freeform 14"/>
          <p:cNvSpPr/>
          <p:nvPr/>
        </p:nvSpPr>
        <p:spPr>
          <a:xfrm>
            <a:off x="16128739" y="-98496"/>
            <a:ext cx="1765702" cy="1981910"/>
          </a:xfrm>
          <a:custGeom>
            <a:avLst/>
            <a:gdLst/>
            <a:ahLst/>
            <a:cxnLst/>
            <a:rect l="l" t="t" r="r" b="b"/>
            <a:pathLst>
              <a:path w="1765702" h="1981910">
                <a:moveTo>
                  <a:pt x="0" y="0"/>
                </a:moveTo>
                <a:lnTo>
                  <a:pt x="1765702" y="0"/>
                </a:lnTo>
                <a:lnTo>
                  <a:pt x="1765702" y="1981910"/>
                </a:lnTo>
                <a:lnTo>
                  <a:pt x="0" y="198191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GB"/>
          </a:p>
        </p:txBody>
      </p:sp>
      <p:sp>
        <p:nvSpPr>
          <p:cNvPr id="3" name="Freeform 3"/>
          <p:cNvSpPr/>
          <p:nvPr/>
        </p:nvSpPr>
        <p:spPr>
          <a:xfrm>
            <a:off x="1871767" y="1123479"/>
            <a:ext cx="15226395" cy="9163521"/>
          </a:xfrm>
          <a:custGeom>
            <a:avLst/>
            <a:gdLst/>
            <a:ahLst/>
            <a:cxnLst/>
            <a:rect l="l" t="t" r="r" b="b"/>
            <a:pathLst>
              <a:path w="15226395" h="9163521">
                <a:moveTo>
                  <a:pt x="0" y="0"/>
                </a:moveTo>
                <a:lnTo>
                  <a:pt x="15226395" y="0"/>
                </a:lnTo>
                <a:lnTo>
                  <a:pt x="15226395" y="9163521"/>
                </a:lnTo>
                <a:lnTo>
                  <a:pt x="0" y="91635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1480494" y="8158468"/>
            <a:ext cx="7315200" cy="1396538"/>
          </a:xfrm>
          <a:custGeom>
            <a:avLst/>
            <a:gdLst/>
            <a:ahLst/>
            <a:cxnLst/>
            <a:rect l="l" t="t" r="r" b="b"/>
            <a:pathLst>
              <a:path w="7315200" h="1396538">
                <a:moveTo>
                  <a:pt x="0" y="0"/>
                </a:moveTo>
                <a:lnTo>
                  <a:pt x="7315200" y="0"/>
                </a:lnTo>
                <a:lnTo>
                  <a:pt x="7315200" y="1396539"/>
                </a:lnTo>
                <a:lnTo>
                  <a:pt x="0" y="139653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 name="Freeform 5"/>
          <p:cNvSpPr/>
          <p:nvPr/>
        </p:nvSpPr>
        <p:spPr>
          <a:xfrm>
            <a:off x="12503023" y="5143500"/>
            <a:ext cx="5642129" cy="6281723"/>
          </a:xfrm>
          <a:custGeom>
            <a:avLst/>
            <a:gdLst/>
            <a:ahLst/>
            <a:cxnLst/>
            <a:rect l="l" t="t" r="r" b="b"/>
            <a:pathLst>
              <a:path w="5642129" h="6281723">
                <a:moveTo>
                  <a:pt x="0" y="0"/>
                </a:moveTo>
                <a:lnTo>
                  <a:pt x="5642130" y="0"/>
                </a:lnTo>
                <a:lnTo>
                  <a:pt x="5642130" y="6281723"/>
                </a:lnTo>
                <a:lnTo>
                  <a:pt x="0" y="62817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6" name="Freeform 6"/>
          <p:cNvSpPr/>
          <p:nvPr/>
        </p:nvSpPr>
        <p:spPr>
          <a:xfrm flipH="1">
            <a:off x="-2177106" y="-499162"/>
            <a:ext cx="7315200" cy="3670900"/>
          </a:xfrm>
          <a:custGeom>
            <a:avLst/>
            <a:gdLst/>
            <a:ahLst/>
            <a:cxnLst/>
            <a:rect l="l" t="t" r="r" b="b"/>
            <a:pathLst>
              <a:path w="7315200" h="3670900">
                <a:moveTo>
                  <a:pt x="7315200" y="0"/>
                </a:moveTo>
                <a:lnTo>
                  <a:pt x="0" y="0"/>
                </a:lnTo>
                <a:lnTo>
                  <a:pt x="0" y="3670901"/>
                </a:lnTo>
                <a:lnTo>
                  <a:pt x="7315200" y="3670901"/>
                </a:lnTo>
                <a:lnTo>
                  <a:pt x="731520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7" name="TextBox 7"/>
          <p:cNvSpPr txBox="1"/>
          <p:nvPr/>
        </p:nvSpPr>
        <p:spPr>
          <a:xfrm>
            <a:off x="811671" y="3631002"/>
            <a:ext cx="16664658" cy="1056315"/>
          </a:xfrm>
          <a:prstGeom prst="rect">
            <a:avLst/>
          </a:prstGeom>
        </p:spPr>
        <p:txBody>
          <a:bodyPr wrap="square" lIns="0" tIns="0" rIns="0" bIns="0" rtlCol="0" anchor="t">
            <a:spAutoFit/>
          </a:bodyPr>
          <a:lstStyle/>
          <a:p>
            <a:pPr algn="ctr">
              <a:lnSpc>
                <a:spcPts val="8772"/>
              </a:lnSpc>
              <a:spcBef>
                <a:spcPct val="0"/>
              </a:spcBef>
            </a:pPr>
            <a:r>
              <a:rPr lang="en-GB" sz="7200" dirty="0">
                <a:solidFill>
                  <a:schemeClr val="accent1">
                    <a:lumMod val="50000"/>
                  </a:schemeClr>
                </a:solidFill>
                <a:latin typeface="Cambria" panose="02040503050406030204" pitchFamily="18" charset="0"/>
                <a:ea typeface="Cambria" panose="02040503050406030204" pitchFamily="18" charset="0"/>
              </a:rPr>
              <a:t>We Appreciate your Attention!</a:t>
            </a:r>
            <a:endParaRPr lang="en-US" sz="6600" dirty="0">
              <a:solidFill>
                <a:schemeClr val="accent1">
                  <a:lumMod val="50000"/>
                </a:schemeClr>
              </a:solidFill>
              <a:latin typeface="Cambria" panose="02040503050406030204" pitchFamily="18" charset="0"/>
              <a:ea typeface="Cambria" panose="02040503050406030204" pitchFamily="18" charset="0"/>
              <a:cs typeface="Jua"/>
              <a:sym typeface="Jua"/>
            </a:endParaRPr>
          </a:p>
        </p:txBody>
      </p:sp>
      <p:sp>
        <p:nvSpPr>
          <p:cNvPr id="10" name="TextBox 10"/>
          <p:cNvSpPr txBox="1"/>
          <p:nvPr/>
        </p:nvSpPr>
        <p:spPr>
          <a:xfrm>
            <a:off x="1603594" y="8614651"/>
            <a:ext cx="5583801" cy="484172"/>
          </a:xfrm>
          <a:prstGeom prst="rect">
            <a:avLst/>
          </a:prstGeom>
        </p:spPr>
        <p:txBody>
          <a:bodyPr wrap="square" lIns="0" tIns="0" rIns="0" bIns="0" rtlCol="0" anchor="t">
            <a:spAutoFit/>
          </a:bodyPr>
          <a:lstStyle/>
          <a:p>
            <a:pPr algn="ctr">
              <a:lnSpc>
                <a:spcPts val="3713"/>
              </a:lnSpc>
              <a:spcBef>
                <a:spcPct val="0"/>
              </a:spcBef>
            </a:pPr>
            <a:r>
              <a:rPr lang="en-GB" sz="4400" dirty="0">
                <a:solidFill>
                  <a:schemeClr val="accent1">
                    <a:lumMod val="50000"/>
                  </a:schemeClr>
                </a:solidFill>
                <a:latin typeface="Cambria" panose="02040503050406030204" pitchFamily="18" charset="0"/>
                <a:ea typeface="Cambria" panose="02040503050406030204" pitchFamily="18" charset="0"/>
              </a:rPr>
              <a:t>Any Questions?</a:t>
            </a:r>
            <a:endParaRPr lang="en-US" sz="4800" b="1" dirty="0">
              <a:solidFill>
                <a:schemeClr val="accent1">
                  <a:lumMod val="50000"/>
                </a:schemeClr>
              </a:solidFill>
              <a:latin typeface="Cambria" panose="02040503050406030204" pitchFamily="18" charset="0"/>
              <a:ea typeface="Cambria" panose="02040503050406030204" pitchFamily="18" charset="0"/>
              <a:cs typeface="Raleway Bold"/>
              <a:sym typeface="Raleway Bold"/>
            </a:endParaRPr>
          </a:p>
        </p:txBody>
      </p:sp>
      <p:sp>
        <p:nvSpPr>
          <p:cNvPr id="11" name="Freeform 11"/>
          <p:cNvSpPr/>
          <p:nvPr/>
        </p:nvSpPr>
        <p:spPr>
          <a:xfrm>
            <a:off x="16560493" y="1944383"/>
            <a:ext cx="580336" cy="1015906"/>
          </a:xfrm>
          <a:custGeom>
            <a:avLst/>
            <a:gdLst/>
            <a:ahLst/>
            <a:cxnLst/>
            <a:rect l="l" t="t" r="r" b="b"/>
            <a:pathLst>
              <a:path w="580336" h="1015906">
                <a:moveTo>
                  <a:pt x="0" y="0"/>
                </a:moveTo>
                <a:lnTo>
                  <a:pt x="580336" y="0"/>
                </a:lnTo>
                <a:lnTo>
                  <a:pt x="580336" y="1015906"/>
                </a:lnTo>
                <a:lnTo>
                  <a:pt x="0" y="101590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12" name="Freeform 12"/>
          <p:cNvSpPr/>
          <p:nvPr/>
        </p:nvSpPr>
        <p:spPr>
          <a:xfrm>
            <a:off x="15980157" y="1028700"/>
            <a:ext cx="1160673" cy="1160673"/>
          </a:xfrm>
          <a:custGeom>
            <a:avLst/>
            <a:gdLst/>
            <a:ahLst/>
            <a:cxnLst/>
            <a:rect l="l" t="t" r="r" b="b"/>
            <a:pathLst>
              <a:path w="1160673" h="1160673">
                <a:moveTo>
                  <a:pt x="0" y="0"/>
                </a:moveTo>
                <a:lnTo>
                  <a:pt x="1160672" y="0"/>
                </a:lnTo>
                <a:lnTo>
                  <a:pt x="1160672" y="1160673"/>
                </a:lnTo>
                <a:lnTo>
                  <a:pt x="0" y="116067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447</TotalTime>
  <Words>1164</Words>
  <Application>Microsoft Office PowerPoint</Application>
  <PresentationFormat>Custom</PresentationFormat>
  <Paragraphs>146</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Cambria</vt:lpstr>
      <vt:lpstr>Jua</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Simple Animated Illustration Computer Part Quiz Presentation</dc:title>
  <dc:creator>Alaa Elareer</dc:creator>
  <cp:lastModifiedBy>Alaa Rafik Saady Shakir Elareer</cp:lastModifiedBy>
  <cp:revision>11</cp:revision>
  <dcterms:created xsi:type="dcterms:W3CDTF">2006-08-16T00:00:00Z</dcterms:created>
  <dcterms:modified xsi:type="dcterms:W3CDTF">2024-12-03T13:36:35Z</dcterms:modified>
  <dc:identifier>DAGYKzVGc5o</dc:identifier>
</cp:coreProperties>
</file>